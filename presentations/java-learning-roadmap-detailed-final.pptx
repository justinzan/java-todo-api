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e9d7b93f54b0b" /><Relationship Type="http://schemas.openxmlformats.org/officeDocument/2006/relationships/extended-properties" Target="/docProps/app.xml" Id="Rc34ab806b1d04447" /><Relationship Type="http://schemas.openxmlformats.org/officeDocument/2006/relationships/officeDocument" Target="/ppt/presentation.xml" Id="R2a26364a3ba243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61a808b234e1f"/>
  </p:sldMasterIdLst>
  <p:notesMasterIdLst>
    <p:notesMasterId xmlns:r="http://schemas.openxmlformats.org/officeDocument/2006/relationships" r:id="R4ec37012485945bc"/>
  </p:notesMasterIdLst>
  <p:sldIdLst>
    <p:sldId xmlns:r="http://schemas.openxmlformats.org/officeDocument/2006/relationships" id="256" r:id="Rb1235d4020dc4294"/>
    <p:sldId xmlns:r="http://schemas.openxmlformats.org/officeDocument/2006/relationships" id="257" r:id="R5cf0294e54574895"/>
    <p:sldId xmlns:r="http://schemas.openxmlformats.org/officeDocument/2006/relationships" id="258" r:id="Ra6cffb487cc84a69"/>
    <p:sldId xmlns:r="http://schemas.openxmlformats.org/officeDocument/2006/relationships" id="259" r:id="R0a046bbdb9114283"/>
    <p:sldId xmlns:r="http://schemas.openxmlformats.org/officeDocument/2006/relationships" id="260" r:id="R699454682ec04244"/>
    <p:sldId xmlns:r="http://schemas.openxmlformats.org/officeDocument/2006/relationships" id="261" r:id="R8fa2821504db44fd"/>
    <p:sldId xmlns:r="http://schemas.openxmlformats.org/officeDocument/2006/relationships" id="262" r:id="Rb6e587138b3c4645"/>
    <p:sldId xmlns:r="http://schemas.openxmlformats.org/officeDocument/2006/relationships" id="263" r:id="R62adb89c46c1468b"/>
    <p:sldId xmlns:r="http://schemas.openxmlformats.org/officeDocument/2006/relationships" id="264" r:id="R3f747f37621d44d1"/>
    <p:sldId xmlns:r="http://schemas.openxmlformats.org/officeDocument/2006/relationships" id="265" r:id="Rfc8ac4ca2af24743"/>
    <p:sldId xmlns:r="http://schemas.openxmlformats.org/officeDocument/2006/relationships" id="266" r:id="Rb679644f7f634ff4"/>
    <p:sldId xmlns:r="http://schemas.openxmlformats.org/officeDocument/2006/relationships" id="267" r:id="Rd1513b22f2d443c4"/>
    <p:sldId xmlns:r="http://schemas.openxmlformats.org/officeDocument/2006/relationships" id="268" r:id="R5e10fcf358454b1d"/>
    <p:sldId xmlns:r="http://schemas.openxmlformats.org/officeDocument/2006/relationships" id="269" r:id="Rc9f5548748dc419f"/>
    <p:sldId xmlns:r="http://schemas.openxmlformats.org/officeDocument/2006/relationships" id="270" r:id="R3d303e456a4d4002"/>
    <p:sldId xmlns:r="http://schemas.openxmlformats.org/officeDocument/2006/relationships" id="271" r:id="Rfe45460330784272"/>
    <p:sldId xmlns:r="http://schemas.openxmlformats.org/officeDocument/2006/relationships" id="272" r:id="R5192cdd60dde42ee"/>
    <p:sldId xmlns:r="http://schemas.openxmlformats.org/officeDocument/2006/relationships" id="273" r:id="R97b4f4b157d1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139cc18f44582" /><Relationship Type="http://schemas.openxmlformats.org/officeDocument/2006/relationships/slideMaster" Target="/ppt/slideMasters/slideMaster1.xml" Id="R21b61a808b234e1f" /><Relationship Type="http://schemas.openxmlformats.org/officeDocument/2006/relationships/notesMaster" Target="/ppt/notesMasters/notesMaster1.xml" Id="R4ec37012485945bc" /><Relationship Type="http://schemas.openxmlformats.org/officeDocument/2006/relationships/presProps" Target="/ppt/presProps.xml" Id="Re43b0afed360480e" /><Relationship Type="http://schemas.openxmlformats.org/officeDocument/2006/relationships/tableStyles" Target="/ppt/tableStyles.xml" Id="R82fe738034dd4d40" /><Relationship Type="http://schemas.openxmlformats.org/officeDocument/2006/relationships/slide" Target="/ppt/slides/slide1.xml" Id="Rb1235d4020dc4294" /><Relationship Type="http://schemas.openxmlformats.org/officeDocument/2006/relationships/slide" Target="/ppt/slides/slide2.xml" Id="R5cf0294e54574895" /><Relationship Type="http://schemas.openxmlformats.org/officeDocument/2006/relationships/slide" Target="/ppt/slides/slide3.xml" Id="Ra6cffb487cc84a69" /><Relationship Type="http://schemas.openxmlformats.org/officeDocument/2006/relationships/slide" Target="/ppt/slides/slide4.xml" Id="R0a046bbdb9114283" /><Relationship Type="http://schemas.openxmlformats.org/officeDocument/2006/relationships/slide" Target="/ppt/slides/slide5.xml" Id="R699454682ec04244" /><Relationship Type="http://schemas.openxmlformats.org/officeDocument/2006/relationships/slide" Target="/ppt/slides/slide6.xml" Id="R8fa2821504db44fd" /><Relationship Type="http://schemas.openxmlformats.org/officeDocument/2006/relationships/slide" Target="/ppt/slides/slide7.xml" Id="Rb6e587138b3c4645" /><Relationship Type="http://schemas.openxmlformats.org/officeDocument/2006/relationships/slide" Target="/ppt/slides/slide8.xml" Id="R62adb89c46c1468b" /><Relationship Type="http://schemas.openxmlformats.org/officeDocument/2006/relationships/slide" Target="/ppt/slides/slide9.xml" Id="R3f747f37621d44d1" /><Relationship Type="http://schemas.openxmlformats.org/officeDocument/2006/relationships/slide" Target="/ppt/slides/slide10.xml" Id="Rfc8ac4ca2af24743" /><Relationship Type="http://schemas.openxmlformats.org/officeDocument/2006/relationships/slide" Target="/ppt/slides/slide11.xml" Id="Rb679644f7f634ff4" /><Relationship Type="http://schemas.openxmlformats.org/officeDocument/2006/relationships/slide" Target="/ppt/slides/slide12.xml" Id="Rd1513b22f2d443c4" /><Relationship Type="http://schemas.openxmlformats.org/officeDocument/2006/relationships/slide" Target="/ppt/slides/slide13.xml" Id="R5e10fcf358454b1d" /><Relationship Type="http://schemas.openxmlformats.org/officeDocument/2006/relationships/slide" Target="/ppt/slides/slide14.xml" Id="Rc9f5548748dc419f" /><Relationship Type="http://schemas.openxmlformats.org/officeDocument/2006/relationships/slide" Target="/ppt/slides/slide15.xml" Id="R3d303e456a4d4002" /><Relationship Type="http://schemas.openxmlformats.org/officeDocument/2006/relationships/slide" Target="/ppt/slides/slide16.xml" Id="Rfe45460330784272" /><Relationship Type="http://schemas.openxmlformats.org/officeDocument/2006/relationships/slide" Target="/ppt/slides/slide17.xml" Id="R5192cdd60dde42ee" /><Relationship Type="http://schemas.openxmlformats.org/officeDocument/2006/relationships/slide" Target="/ppt/slides/slide18.xml" Id="R97b4f4b157d1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90a8542b840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9cd04803b4049" /><Relationship Type="http://schemas.openxmlformats.org/officeDocument/2006/relationships/notesMaster" Target="/ppt/notesMasters/notesMaster1.xml" Id="R30206296012f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36987ce4e47dd" /><Relationship Type="http://schemas.openxmlformats.org/officeDocument/2006/relationships/notesMaster" Target="/ppt/notesMasters/notesMaster1.xml" Id="Rce80e7cdd114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1990785ef0414d" /><Relationship Type="http://schemas.openxmlformats.org/officeDocument/2006/relationships/notesMaster" Target="/ppt/notesMasters/notesMaster1.xml" Id="Ra89f0a6184ea42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ca7c2229a6497a" /><Relationship Type="http://schemas.openxmlformats.org/officeDocument/2006/relationships/notesMaster" Target="/ppt/notesMasters/notesMaster1.xml" Id="Rbc4760a999e7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9e54a2852149ae" /><Relationship Type="http://schemas.openxmlformats.org/officeDocument/2006/relationships/notesMaster" Target="/ppt/notesMasters/notesMaster1.xml" Id="Ra2c304708e60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1994e004a4928" /><Relationship Type="http://schemas.openxmlformats.org/officeDocument/2006/relationships/notesMaster" Target="/ppt/notesMasters/notesMaster1.xml" Id="R0459be7f64c44e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fa4f9d75a94083" /><Relationship Type="http://schemas.openxmlformats.org/officeDocument/2006/relationships/notesMaster" Target="/ppt/notesMasters/notesMaster1.xml" Id="R2d8cdc84dcf542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f389a435374dc2" /><Relationship Type="http://schemas.openxmlformats.org/officeDocument/2006/relationships/notesMaster" Target="/ppt/notesMasters/notesMaster1.xml" Id="R034d589a88a44f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dadab466f04892" /><Relationship Type="http://schemas.openxmlformats.org/officeDocument/2006/relationships/notesMaster" Target="/ppt/notesMasters/notesMaster1.xml" Id="Redaae435389246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81dfb62b9c442c" /><Relationship Type="http://schemas.openxmlformats.org/officeDocument/2006/relationships/notesMaster" Target="/ppt/notesMasters/notesMaster1.xml" Id="Rca668e31e37f43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668185cf7a490c" /><Relationship Type="http://schemas.openxmlformats.org/officeDocument/2006/relationships/notesMaster" Target="/ppt/notesMasters/notesMaster1.xml" Id="Rde6fcb0e9cc241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dc24a1dd66491e" /><Relationship Type="http://schemas.openxmlformats.org/officeDocument/2006/relationships/notesMaster" Target="/ppt/notesMasters/notesMaster1.xml" Id="R54252cac44af48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c20a0d28af47bd" /><Relationship Type="http://schemas.openxmlformats.org/officeDocument/2006/relationships/notesMaster" Target="/ppt/notesMasters/notesMaster1.xml" Id="Rf3494509c76444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68ecee7c034bc3" /><Relationship Type="http://schemas.openxmlformats.org/officeDocument/2006/relationships/notesMaster" Target="/ppt/notesMasters/notesMaster1.xml" Id="Rc417fff185874e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ad4f9745ac4c57" /><Relationship Type="http://schemas.openxmlformats.org/officeDocument/2006/relationships/notesMaster" Target="/ppt/notesMasters/notesMaster1.xml" Id="R1d0b96aa584c44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40ee7f8e0f4d49" /><Relationship Type="http://schemas.openxmlformats.org/officeDocument/2006/relationships/notesMaster" Target="/ppt/notesMasters/notesMaster1.xml" Id="R26a3941c300c4c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2c4af27e7443dc" /><Relationship Type="http://schemas.openxmlformats.org/officeDocument/2006/relationships/notesMaster" Target="/ppt/notesMasters/notesMaster1.xml" Id="Reb09dcde13194e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61d7ddeac34f16" /><Relationship Type="http://schemas.openxmlformats.org/officeDocument/2006/relationships/notesMaster" Target="/ppt/notesMasters/notesMaster1.xml" Id="Rfe068f51b3a540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开场：这份详细版把 28 周路线拆成可执行的学习主题、项目改动和验收标准。主线项目是 java-todo-api，默认仍然可以用 H2 运行，不要求先安装 PostgreSQL、Redis、Kafka、RabbitMQ 或 Docker。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把时间固定成四段，是为了避免只看资料不动手。每周的验收标准不是代码量，而是是否能解释数据流、验证失败场景并留下复盘。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这是一张能力地图，不是考试大纲。阶段出口很重要：如果还不能通过接口、测试或日志证明本阶段能力，就先补齐，不要急着向后推进。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周不要求背完整语法，第 2 周开始把数据和行为放入对象，第 3 周把对象组合成一个小项目。分层的目的不是增加文件，而是让变化有边界。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讲解时不要把这些概念当成孤立定义。看到 TodoRepository，就回忆接口；看到 List，就问集合如何存储多个对象；看到异常，就问调用方如何处理失败。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周先理解 Web 入口，第 5 周接数据库，第 6 周建立配置和模型边界，第 7 周让接口对错误输入更友好，第 8 周加入身份和数据隔离。每周都在同一个项目上追加能力。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这页是日常读代码的导航。遇到问题先判断属于哪一层：参数格式通常是 DTO/Validation，业务规则是 Service，查询效率是 Repository/数据库，响应格式是 Mapper 或全局异常处理。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工程化的核心是可预期。第 9–13 周不是简单增加工具，而是让系统在正常、失败、重试和排查时都能解释自己的行为。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事务保证数据库内部的原子性；它不能自动保证数据库和消息系统的一致性。学习时先掌握事务边界，再理解 afterCommit、Outbox、重试和幂等。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性能学习不能只记住“加缓存”。先找重复查询和慢点，再考虑缓存；异步也不是越多越好，要分析用户是否必须等待，以及失败如何重试和追踪。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TTL 是缓存项的生存时间。Redis 学习的第一步是把 key、TTL、失效和降级讲清楚；分布式锁、限流、幂等要等共享状态真正有业务需要时再加入。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附件同时涉及文件系统和数据库，RBAC 同时涉及身份和资源，慢 SQL 同时涉及 ORM 和数据库。第 20–23 周要训练的是跨边界思考，而不是只写一个 happy path。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这一页要建立排查习惯。接口慢只是表象，可能是序列化、业务循环、数据库查询或网络。先测量和定位，再修改；优化后要用同样条件对比。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这些工具是外部运行环境，不是 Java 语法本身。先理解接口和适配边界，默认用 H2 和内存实现跑通；以后有条件再切换真实服务，避免环境问题阻断学习。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Kafka 的重点不是“发一条消息就结束”，而是消息保留、分区、offset 和消费组。对于 Todo 项目，可以把状态变化作为事件，消费者负责审计或统计；同一事件重复消费时必须幂等。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RabbitMQ 学习要抓住投递链路：Producer 到 Exchange，再按 Binding 路由到 Queue，Consumer 成功后 ACK。ACK 之前进程崩溃，消息可能再次投递，所以消费者必须幂等。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周不是把代码全部重写，而是验证你是否能安全改变结构。所有重构都要先明确外部行为，再用测试和构建结果保护行为。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收尾：路线的成果不是背诵框架，而是能从需求、接口、数据、异常、测试和运行状态多个角度理解一个 Java 后端项目。后续可以继续学习 Outbox、真实 Broker 集成测试、CI/CD 和云部署。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d7c17874046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5f27de65b4942" /><Relationship Type="http://schemas.openxmlformats.org/officeDocument/2006/relationships/slideLayout" Target="/ppt/slideLayouts/slideLayout1.xml" Id="R5c2a3cebf3c34f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a3cebf3c34f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985904a634782" /><Relationship Type="http://schemas.openxmlformats.org/officeDocument/2006/relationships/notesSlide" Target="/ppt/notesSlides/notesSlide1.xml" Id="R0609b3d1b37e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c2a7918f549d5" /><Relationship Type="http://schemas.openxmlformats.org/officeDocument/2006/relationships/notesSlide" Target="/ppt/notesSlides/notesSlide2.xml" Id="Rc90d3f3b0d8b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e1d78e9b84bba" /><Relationship Type="http://schemas.openxmlformats.org/officeDocument/2006/relationships/notesSlide" Target="/ppt/notesSlides/notesSlide3.xml" Id="R0efa878c7d9446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8f30def6440d2" /><Relationship Type="http://schemas.openxmlformats.org/officeDocument/2006/relationships/notesSlide" Target="/ppt/notesSlides/notesSlide4.xml" Id="Rcf87e7ca5468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1e736221f4887" /><Relationship Type="http://schemas.openxmlformats.org/officeDocument/2006/relationships/notesSlide" Target="/ppt/notesSlides/notesSlide5.xml" Id="R4e1ba65128f74e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2f2e0a7134aff" /><Relationship Type="http://schemas.openxmlformats.org/officeDocument/2006/relationships/notesSlide" Target="/ppt/notesSlides/notesSlide6.xml" Id="R4e2444ec01e0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da9ef5e6c4cc6" /><Relationship Type="http://schemas.openxmlformats.org/officeDocument/2006/relationships/notesSlide" Target="/ppt/notesSlides/notesSlide7.xml" Id="R3c181b9c0d8e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75c9217b4634" /><Relationship Type="http://schemas.openxmlformats.org/officeDocument/2006/relationships/notesSlide" Target="/ppt/notesSlides/notesSlide8.xml" Id="R290f282f7ba243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0a8d7029a4246" /><Relationship Type="http://schemas.openxmlformats.org/officeDocument/2006/relationships/notesSlide" Target="/ppt/notesSlides/notesSlide9.xml" Id="Re88b8ea2b7c941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6c4c4b8c04927" /><Relationship Type="http://schemas.openxmlformats.org/officeDocument/2006/relationships/notesSlide" Target="/ppt/notesSlides/notesSlide10.xml" Id="R4ca94301f49141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df553fad4137" /><Relationship Type="http://schemas.openxmlformats.org/officeDocument/2006/relationships/notesSlide" Target="/ppt/notesSlides/notesSlide11.xml" Id="Rc674a18fe2ea44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2fcd28c4f4619" /><Relationship Type="http://schemas.openxmlformats.org/officeDocument/2006/relationships/notesSlide" Target="/ppt/notesSlides/notesSlide12.xml" Id="R1343784cbdc840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9805036b4d90" /><Relationship Type="http://schemas.openxmlformats.org/officeDocument/2006/relationships/notesSlide" Target="/ppt/notesSlides/notesSlide13.xml" Id="R9384bade571144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0d664b47486c" /><Relationship Type="http://schemas.openxmlformats.org/officeDocument/2006/relationships/notesSlide" Target="/ppt/notesSlides/notesSlide14.xml" Id="Reb35e19a6ed04a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61b7f5c574f77" /><Relationship Type="http://schemas.openxmlformats.org/officeDocument/2006/relationships/notesSlide" Target="/ppt/notesSlides/notesSlide15.xml" Id="R8236a3230f8f4f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90fb63388468c" /><Relationship Type="http://schemas.openxmlformats.org/officeDocument/2006/relationships/notesSlide" Target="/ppt/notesSlides/notesSlide16.xml" Id="Rbc1f74de19ca4a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3feaa903c4420" /><Relationship Type="http://schemas.openxmlformats.org/officeDocument/2006/relationships/notesSlide" Target="/ppt/notesSlides/notesSlide17.xml" Id="R3adc20b8cec14a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ca4a5c9f94211" /><Relationship Type="http://schemas.openxmlformats.org/officeDocument/2006/relationships/notesSlide" Target="/ppt/notesSlides/notesSlide18.xml" Id="Rcc70068e91c2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8A462-01FB-400B-AC11-D69ED7D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E79B0-1F43-4F5C-BA0B-795666B9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 周 Java 后端学习路线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EE5D2-9E19-465C-B408-D610299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详细学习版：每天 2 小时，从前端开发者到能独立写 Java 程序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935C1-8C7B-4AAB-9F8F-39A878AD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项目驱动 · Java 21 · Spring Boot · Todo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FACDC-6CD7-4403-8046-4711E380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EA4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4AE"/>
                </a:solidFill>
                <a:latin typeface="Arial"/>
                <a:ea typeface="Arial"/>
                <a:cs typeface="Arial"/>
              </a:rPr>
              <a:t>学习重点 / 项目改动 / 验收标准 / 复盘问题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93533-FAE0-42D5-BF93-F0F337D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D5DB"/>
                </a:solidFill>
                <a:latin typeface="Arial"/>
                <a:ea typeface="Arial"/>
                <a:cs typeface="Arial"/>
              </a:rPr>
              <a:t>从语法到系统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FF546-F9A7-4D85-959C-74824FBF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ECFF5-0E64-4447-90F2-96358A4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8DEB5-E49A-48BB-885C-610CB8EB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EB0B3-3342-47B7-B2D2-D4E7E76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FABDE-8D67-4E5A-B886-6AFE3F9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CE4E2-C857-4EBE-91EA-3B151DC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48803-B7AE-41A4-9D4C-1EB4BD74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54643-5098-436F-8DAD-0BD5E0AD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CC656-832D-4538-848C-7047B04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771CC-771C-467B-9504-A09CF67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A0B6F-9EA6-42F4-896F-9CB98AC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0FF86-486B-41BA-86A2-29DDB7BB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综合重构</a:t>
            </a:r>
          </a:p>
        </p:txBody>
      </p:sp>
    </p:spTree>
    <p:extLst>
      <p:ext uri="{BB962C8B-B14F-4D97-AF65-F5344CB8AC3E}">
        <p14:creationId xmlns:p14="http://schemas.microsoft.com/office/powerpoint/2010/main" val="186687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68FF6-2D0C-426D-8B14-A6A099B5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00157-16CA-4050-A22F-219E78A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每天 2 小时：固定的学习闭环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D757F-31C6-4441-A921-E29E68F4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13E5B-5054-4ED3-A435-AC14D6DD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132D2-D5CA-4350-857B-D5E5764D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每次学习都要留下一个可验证的结果：代码、测试或复盘记录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4B38-FA72-4CB0-BAD4-D4509DDC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C2EEF-C834-4D2F-8BF8-BCFD693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每天只解决一个小问题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BE7D-BC5D-4678-A150-A6A46488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0BFCB-A451-4A7A-A607-0447F97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40F9F-D1FF-4141-A3CC-D75E991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637B0-A900-4B83-A55C-3C4D2551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20 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28616-31EB-44B2-A424-D9861B4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33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读代码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5A8FD-72DA-47BB-90BC-3AFFB63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找到入口、输入、输出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C2533-A2EA-4AFB-B8C7-B28ED42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765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31EB5-A959-4A78-B0EA-41CCED8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AE996-E82A-4925-9531-CB0CF88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16D29-9AB5-47CA-85F4-8F513AF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57D9D-969B-4A14-80BE-BF54305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76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70 分钟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D97BD-8F7B-4873-94D3-A336245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4C71B-F70C-443A-80D3-EE19D18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只改一个小目标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474C0-93BB-4A79-9139-9567456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93FCB-7C7F-4014-8061-85DA6853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E90C0-7C48-4A38-88BC-0BA012F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BADE6-B1FC-4CCE-80FD-4DD63316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E81FC-551D-44B4-A0BC-74A1A29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20 分钟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AC739-8BCA-4260-9357-078F898F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跑测试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EE9F5C-A26F-4784-961B-DDBF2FA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验证成功与失败路径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026B9-20BB-4E57-A843-38B28AC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22ABC-0800-494F-A1DC-F6383335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A8CE1-4CC0-4FA9-A18E-AC8DC779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97104-17E4-4FCE-BE19-984C1F8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8193A-E73A-4DAF-A239-19CB47F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764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10 分钟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DCB05-ED6B-492A-8374-37413E7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33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AFCB25-827A-4B1C-A06B-C147BB68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记录为什么这样设计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0DA3ED-BE2A-4E25-BDBE-799F20C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C654E-7660-4695-9158-308EB30C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每周的完成定义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C6AD58-EE1A-489E-9494-C8293554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能从入口读懂本周新增代码，并说出数据如何流动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至少完成一个真实接口或后台任务，不能只停留在看懂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至少写 2 条测试：一条成功路径、一条失败或边界路径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在 docs/weekly-learning 中写下：做了什么、为什么、还不懂什么</a:t>
            </a:r>
          </a:p>
        </p:txBody>
      </p:sp>
    </p:spTree>
    <p:extLst>
      <p:ext uri="{BB962C8B-B14F-4D97-AF65-F5344CB8AC3E}">
        <p14:creationId xmlns:p14="http://schemas.microsoft.com/office/powerpoint/2010/main" val="1558800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2F24F-9709-4785-B4A2-E7AC2D6B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路线总览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9C4F0-78A7-4B30-9581-10D0122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28 周能力地图：每阶段的出口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15962-46D2-4F50-ABFC-B015493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B1ED-B141-4E99-A723-25596587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A4061-CEBD-4ED2-B76E-1D518A41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每个阶段都对应一个可以运行、可以验证的项目能力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E846-A0EE-4DA1-8C03-B8FE41EE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22C95-82DB-416F-A3AD-9BE4BAF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01–03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09755-BFC3-4842-B0ED-0689ED8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09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基础与分层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C3D16-EC34-49B6-AC35-A54B3237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从语法、对象、集合、异常到控制台 Todo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C742B-EB0A-43E1-984F-3ACFED5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4EFBF-A208-4626-90EA-CF7F4A3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04–08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CB842-0EB9-4176-8414-F3709EC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52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Spring Boot 与认证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E45BF-38AA-4168-A8AF-884D9B1B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907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REST、JPA、DTO、校验、JWT 和用户隔离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BBD4D-00AA-4A4F-B026-03FFA119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38ECE-E673-4BC3-AAEF-9D01EAA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09–13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470FC-F4D2-47E4-B54A-C66A4112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工程基础与一致性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38A6D-D724-4BA3-8749-08E76E5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OpenAPI、日志、测试、软删除、事务、操作记录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FAE73-8271-42F5-8C9F-2DA52846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E696E-7A34-48F7-ADDE-C1CD3AE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14–19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30504-4E30-4618-A1A3-2A410F4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38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性能、异步与观测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5EB36-3C5D-46E7-BF8C-1EFD586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缓存、Redis、事件、线程池、任务、Actuator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BF1E3-12D0-4604-9B53-07192C3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F540D-F967-431E-A3E5-2F782054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20–23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A9B65-038D-475C-B80F-CA9BF556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81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真实业务边界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A3E04-688D-409C-A364-54BE98E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附件、RBAC、Service 测试、索引和慢 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2E884-7E53-400C-84DF-786F51A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315B0-332C-4589-AD8A-F0C7BF39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24–27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9F897-9B44-456B-BB9A-3DAB86D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24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生产工具与消息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F29DA-09D8-4B55-BBBD-BDF31B8B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624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Docker、PostgreSQL、Redis、Kafka、RabbitMQ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75252-8D8E-451C-A481-5AEFFF6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2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C4F77-0BBD-482C-8CB4-F9A3BB8C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66BA5-8619-4C87-BC91-29C11876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67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综合复盘与重构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5981C-D4AE-4804-9481-82FDDE0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保持行为不变，改善结构、测试和排错能力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4F4984-4816-4959-AFEB-52E38350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ABFD4-90CA-48CD-91FA-B48901A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388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主线项目：java-todo-api　｜　原则：每周增加一个可验证能力，不追求一次学完所有 Java</a:t>
            </a:r>
          </a:p>
        </p:txBody>
      </p:sp>
    </p:spTree>
    <p:extLst>
      <p:ext uri="{BB962C8B-B14F-4D97-AF65-F5344CB8AC3E}">
        <p14:creationId xmlns:p14="http://schemas.microsoft.com/office/powerpoint/2010/main" val="500190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AAA5F-6927-46E5-A04F-C39D21D0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1｜基础与分层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9C545-6005-4F07-B914-7A9C63FC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1–3 周：从 Java 语法到第一个分层项目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4E291-2B60-41FA-88DC-28C0818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206B4-2968-4C16-AAC9-2395AC4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5F4A9-89A6-4AFB-8F0B-8CC4CE3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目标：能独立读写简单 Java 程序，并理解代码为什么要分层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4306-21C0-49D8-B906-1D4A7092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学习重点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C53D0-3A34-482A-86EC-11DFF7D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项目实践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9DC6F-B0DE-4999-9F36-8860570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验收标准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DAFE5-9481-4E40-A926-57F3988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592CE-2438-43FD-9DB1-DDEEF43B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E536D-D249-4440-A865-AAE90531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第 1 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5C1A6-EB92-48FF-AA0C-6D403F7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526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语法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4BF8F-8A21-4829-B7EE-D8369B89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完成 Todo 数据类；练习变量、if、for、方法、数组和控制台输入输出。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8E0C8-6868-4FD8-AFE2-B2DA81D4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52650"/>
            <a:ext cx="2600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能解释类型、方法参数和返回值。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5D43A-8E42-4370-A039-01FB2BC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26D54-BCC0-45B2-AC1C-C0B2545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E4EE7-D802-489A-AC2F-BF544638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第 2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8A8F5-BE93-45DA-ACCA-DA5490D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3370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面向对象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EE11D-2728-40FB-AB1E-F2A1825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拆分 Todo、TodoService、异常类；练习接口、继承、List、Map、try/catch。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849AA-D97C-47BC-9525-23E499BE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33700"/>
            <a:ext cx="2600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能说出接口解决什么问题，并能处理非法输入。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F5746-BBE8-4581-BA94-93D65C73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D07AD-F1EA-4F3B-8D9B-439AC1B2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BD44F-D0BE-4B18-8108-6FC82B75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第 3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54404-68C9-4578-8C99-F00844B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控制台 Todo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CDA4F-FCD8-40B2-BD52-F2122C2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实现新增、列表、完成、删除；用 package 分成 model、service、repository。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C46CF-D116-455A-B8EF-BEFA3ED8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14750"/>
            <a:ext cx="2600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程序可运行；至少覆盖空标题、错误 ID、重复操作。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DB49C-34C5-43CF-9924-39132F45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CF941-6893-4641-8C97-BBC0675E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前端知识迁移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3F0CE-7297-43DA-912A-B2F45AE7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函数 → 方法　｜　npm / package.json → Maven / pom.xml　｜　模块边界 → package　｜　Promise 错误 → 异常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8122F-FE0C-4D1A-87CB-6152B766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每天的最小产出：一个能运行的例子 + 一条你能用自己的话解释的结论。</a:t>
            </a:r>
          </a:p>
        </p:txBody>
      </p:sp>
    </p:spTree>
    <p:extLst>
      <p:ext uri="{BB962C8B-B14F-4D97-AF65-F5344CB8AC3E}">
        <p14:creationId xmlns:p14="http://schemas.microsoft.com/office/powerpoint/2010/main" val="2071628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F8130-223F-4CB6-A8BF-9F5707B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1｜理解方式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A885-AFB0-4D0A-9F74-C7BDA0AA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Java 概念地图：用前端经验建立新连接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4F53-1B9F-4228-839E-BECD57F9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A0B5-3496-4B6B-80EA-B12CCA8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5629F-EB9F-479C-80D2-6733F7C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把“语法名词”连接到“项目中的责任”，学习会更牢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C79E5-22FA-4912-BBE4-E89F95D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90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20600-FBB7-49B0-A178-884A92F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10686-66F4-4FAD-B6F8-CDBE4AEF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int / String / boolean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决定数据能做什么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ED314-FB63-4D8E-915A-C79147B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C01C8-26D3-4EF2-937C-F2D548BE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F6A7-109F-4822-8C78-2669EC66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90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853D9-6BC9-4DF6-AAB7-C1044BA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字段 + 方法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表示一个业务实体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00708-ACB3-4237-943A-72A93E8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BD5C0-3FBE-4B37-B3CD-B46C4E9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1790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9525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4F0A3-280A-4372-BC8C-F4B81D7C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90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970BD-7C91-42EF-AD6E-3E53E860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约定能力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让实现可以替换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82D8B-5A5F-441F-B8A9-3B30B383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3CB78-8E28-48B9-A482-EAE07838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790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9525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41A11-F6D5-4632-82F3-ECEC6D0C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集合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D14C4-170B-4171-B6D1-1AFAA90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List / Map / Set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组织多个对象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15071-801B-4470-90AA-596F7AA4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274FA-EA09-4EDD-82BB-FD5B64D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1790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3EBB3-27B5-4DA5-B3D8-682661A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3693B-BEFD-4173-AD59-003C8819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明确失败路径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不要静默吞错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BA499-C402-4689-B53B-7CCD9D6B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放进 Todo 项目后，它们分别落在这里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B1997-BD52-4DA6-9B9E-52D7621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AB15D-1F02-4ECB-9B91-38A829EC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C39F16-DF15-462D-A3FF-85A1594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对象：标题、完成状态、创建时间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22ADB-8EBC-4864-B3DB-5D6B69C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TodoRepository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4980E5-1EB4-4BF5-A2FA-87E679E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1AEF0-17C4-4823-92DC-68935C8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接口：定义保存、查询、删除能力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5BDDA-DB2F-4CDB-A407-C4BF6FA9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ArrayList&lt;Todo&gt;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751D3-9D8E-4885-82C4-608CF4C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54672A-DD22-4C7C-9FFC-8A3B923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集合：保存内存中的多个 Todo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ECEAF8-2788-4305-8B15-05071590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TodoNotFoundException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895D77-17BE-4D03-887A-4C7AD6E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068E93-779E-47C3-AF88-3895A45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异常：找不到任务时明确失败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86480-50CA-460B-9DE4-367458CC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pom.xml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14FA0-721C-4494-8189-210C6415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769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1FEB20-9B17-4FD1-A828-FA3FC55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Maven：声明依赖、编译和测试命令</a:t>
            </a:r>
          </a:p>
        </p:txBody>
      </p:sp>
    </p:spTree>
    <p:extLst>
      <p:ext uri="{BB962C8B-B14F-4D97-AF65-F5344CB8AC3E}">
        <p14:creationId xmlns:p14="http://schemas.microsoft.com/office/powerpoint/2010/main" val="1941360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4F10CD-3EBD-4F92-83EB-F60FDF0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2｜SPRING BOOT 与认证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C5621-BAE1-4FB6-8B85-B1F9F9C2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4–8 周：把控制台程序变成 Web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16FAF-BE3E-4DCC-9D88-C562FA4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E022A-B28B-4E47-B9E2-20628FC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3327C-76A6-41F2-BFDA-73DA7363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目标：能从 HTTP 请求一路追到数据库，再把稳定的 JSON 返回给前端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D7664-7F1A-498C-A307-53918200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周次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56181-009F-4AB4-9DC9-2B5B0FD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学习重点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6BFC9-93ED-4029-83E9-89FFF6D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项目中的改变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558B8-F4AE-4D31-8332-3268E9F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完成后要能回答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6EC18-5B10-4750-A4D3-7956670F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7089A-34DB-413F-904B-EA02311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04E6B-CA12-4D43-AC12-6ACCBEA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C611A-B83F-4547-B175-737699F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9DE6E-00AE-4896-8721-8CA0CE2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启动应用；Controller 接收 GET / POST；返回 Todo JSON。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6C4F6-5229-4A71-A06C-59AA5A62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请求为什么能匹配到方法？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29E0A-FEE0-4E64-9731-C473D869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D3E23-46ED-49E9-AC5E-9A0BCF1F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A48DF-FC1E-4360-A9D0-C0C219B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650D1-4DB2-4804-BF47-447E7D4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43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JPA 与数据库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13971-FB3C-4BEE-B6E4-E138FBE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Entity、Repository、H2；把内存列表替换为持久化查询。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CBECB-6476-440F-9B9C-4FFFB0BB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重启后数据为什么还在？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C6534-9E0B-4C0C-BFDB-938D27DB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74CE8-323E-4540-A8DF-B80923C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3D56C-5A6A-4E84-998F-2E0CE4F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7DDCB-6800-4930-A1DA-38EE82E8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Profile / Flyway / DTO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11ED4-BBDF-4EE7-B332-01520DC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配置按环境分离；迁移表结构；Entity 不直接暴露给 API。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99516-A454-4B03-BE93-C22EEC1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接口模型和数据库模型为何分开？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BB7B7-7444-4F76-BD3F-1C988C8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3944D5-434F-4B98-9DB7-70741D7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C9529-8F47-4A3C-B58E-3D78982F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W7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0D9AE9-941A-4E04-80D1-ABD66BF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分页 / 排序 / 校验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1AF30-2C81-4411-980F-8C930657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Pageable、@Valid、统一校验错误；保护 title、completed 等字段。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7D74D-FE16-4958-B7CF-B1B3736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错误输入如何被前置拦截？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1591A-247C-45B6-A9DE-9E65920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D5846-DB01-435C-AB21-8D85D55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1648A-BDA3-4370-90E1-783DF93A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W8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60236-C9D5-4E7E-8BAB-DF84CD97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注册 / 登录 / JWT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B8C64-BEE1-4597-84B3-F962763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用户表、密码哈希、Token；Todo 查询必须带当前 userId。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4E929C-5122-4904-A0E0-38F3678D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863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如何证明用户看不到别人的 Todo？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2E59BF-E9FA-451B-AD3A-708D292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92B68E-8277-4444-9328-50AD1C45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864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阶段出口：独立写出“登录 + 校验 + 分页 + 数据库访问 + 用户隔离”的 Todo API</a:t>
            </a:r>
          </a:p>
        </p:txBody>
      </p:sp>
    </p:spTree>
    <p:extLst>
      <p:ext uri="{BB962C8B-B14F-4D97-AF65-F5344CB8AC3E}">
        <p14:creationId xmlns:p14="http://schemas.microsoft.com/office/powerpoint/2010/main" val="2017167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A25DF9-0CAC-470C-A003-17C454BA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2｜核心链路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17C38-5E3D-487D-A2F6-D7E712B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一条请求是怎样穿过后端的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F92E-B630-46CC-B899-279FE641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C9222-F9DE-4DFF-8256-09ADD2A7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D2C66-4C86-4B37-B268-24C5709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阅读代码时，按这条链路定位：输入在哪里校验，规则在哪里决定，数据在哪里落库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D1C3F-7CCF-4BBB-A0FB-0866423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DF7E8-831C-406F-9DC3-E5EB005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4E401-FDDD-4C5E-A289-EC6CE70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POST /todos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E159B-12F1-46CB-8F7F-E1547A80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050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538A-8556-4D2C-AE64-12D2AF4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DF453-9EDE-4508-891F-A99D80DF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6DA0A-BE55-438D-AFC4-D097C402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接收 DTO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88C4C-4AB1-46DA-8C9D-F80888B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2A841-6A07-48A0-961C-B7DCBD0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B9593-2894-4F81-B699-34CEBC9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D974A-79D7-46BB-BC10-B903AFFC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@Valid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CCA2E-CDAA-4759-8FB9-389C5F2F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95F0A-F888-43EF-A8D1-0FB5D1C2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470DA-C23A-4128-99A0-3B6C611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53017-03BA-4C8F-B206-C9F64E99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业务规则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DD037-5639-45BA-A704-D5687ED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BB9D8-0071-46FB-BD4C-B33928A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570A8-F191-4CAE-BB57-F847282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19FCE-4C06-440E-8B56-CEE5AC7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JPA 查询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676DE-4F47-4238-ACF5-7BB1E9A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247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B0CFD-7990-4664-998B-DA028DD0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13906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108B7-FC5E-482D-AC7B-DB6BBDEE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52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7AD72-AB34-4B32-B487-4ADC767C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57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返回 DTO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175F0-4CBA-48FF-830A-85C52CDB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每一层只负责什么？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F4D89-4932-4A4D-BA01-F044EC1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CCCC6-D5BD-4A2F-8F50-F851207A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F692E-34E9-4F90-937F-1C0F0ED6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HTTP、DTO、状态码；不要写复杂业务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D0E5CE-6915-4D9A-9722-64019D15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接口变化影响这里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01021-1A0D-49D9-AAF6-CDBBBEBB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63B9F-A263-47C8-8C10-918995A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76708C-B054-432B-86A7-EEEA9DD1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38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权限、状态变化、事务；表达业务规则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3B2D01-8FC7-445F-B74F-F69F7DA6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业务变化影响这里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3CF79C-0B32-4DD3-8DDB-678AE4AC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404F35-D65F-471B-834B-8EDCA25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58141-73B3-40A1-9DBA-4A0CAA9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95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保存和查询；不要决定业务流程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7E788B-7F5F-4514-9C9A-54592E20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数据访问影响这里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DF2147-B4E4-4B5A-ADB4-9A6AAEF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215AA3-4E56-4388-81BE-A912182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Mapper / Handler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8FB9D6-2B2E-4682-9C24-8158B058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Entity ↔ DTO；统一转换和错误响应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B07306-D21B-4F8C-A140-96E36124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输出契约影响这里</a:t>
            </a:r>
          </a:p>
        </p:txBody>
      </p:sp>
    </p:spTree>
    <p:extLst>
      <p:ext uri="{BB962C8B-B14F-4D97-AF65-F5344CB8AC3E}">
        <p14:creationId xmlns:p14="http://schemas.microsoft.com/office/powerpoint/2010/main" val="811899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746EE-072D-41AC-8819-2D05AE3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3｜工程基础与一致性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64D5-2A97-49DA-83F8-E11BE87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9–13 周：从“能用”到“可维护、可排查”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A9EFC-FF25-44F9-BB22-7F4F8D92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1AC3A-2D0E-40EE-9109-8496DBD1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13F0F-EF54-4C72-95AF-21E0194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目标：接口有契约，错误可识别，变化可追踪，多个写操作保持一致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1483A-793B-4C13-B422-306857E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周次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2845-DB8F-47CB-92ED-80AC638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新增主题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A6C3-0FC2-407B-A425-765FF552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项目改动与练习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07BFE-6ECF-447F-A12C-D696A32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验收问题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FB905-BBCC-4F87-8D39-F5DEF9A6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B3731-0B12-46D0-B417-DD0BC14B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85419-501F-44FF-983D-D75363FA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W9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3B82C-42CA-478B-B022-5EB4DEFF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OpenAPI / 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4BD66-88F0-4A99-85EB-FD5B474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补充接口说明、请求 ID、关键业务日志；知道一次请求经过哪些层。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752DC-059F-4ABC-81E7-C730328E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拿到 requestId 能否查全链路？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D521B-9C21-47E5-811C-77064A1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54B6D-5BBC-40BE-9093-8253073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A0927-26B4-4C57-A7AB-616AC9A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W10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8FFE2-CB10-450C-A7D9-389358A2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43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 /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EDEB6-CC05-4B79-994A-0F107E73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Controller 集成测试、构建命令；让每次改动都有自动反馈。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32F80-04F0-40B6-BD94-9C50C9B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失败时能否快速定位是代码还是配置？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470A0-DA28-4FAD-B676-100A83DD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FA6A0-8447-4798-A6BC-5CF729C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3DA29-49D1-4C77-AF21-641BE76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W11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6C939-F1ED-4343-93AA-1980C76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软删除 / 生命周期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6EC90-ECDB-439A-9F7F-F62836D3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deletedAt、恢复、默认过滤；区分删除、恢复和彻底清理。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34A08-3F96-4086-8B35-7E71597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普通列表会不会返回已删除数据？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31F5D-3667-48C3-9745-39C23A21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C4740-4EE2-428F-BA10-FF88A36C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DE258-9B65-4943-92BA-99A5DDE5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W12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BEE6D-19DD-422F-880A-C0E0CBF4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统一响应 / 错误码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D31ED-BCF7-4A22-A18C-83F3B33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统一成功和失败格式；全局处理参数、资源不存在、业务冲突。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2A9C9-A4E8-49F0-994E-5CF3210A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前端能否稳定判断错误类型？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96BBA-C424-4E5C-8F59-7C6E58AF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915038-B7B3-493C-A3B0-1713453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5DA85-537C-4CC4-8ECC-1F66E6A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W13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CF2C25-A9C8-4ECA-A6F9-F114FEFF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 / 操作日志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E3FB39-9D5F-42D6-95DF-33AA44A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Todo 状态变化和日志写入放进事务；失败时一起回滚。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8B3BB8-B6F3-45A6-B42C-05C6CD77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主数据成功但日志失败时怎么办？</a:t>
            </a:r>
          </a:p>
        </p:txBody>
      </p:sp>
    </p:spTree>
    <p:extLst>
      <p:ext uri="{BB962C8B-B14F-4D97-AF65-F5344CB8AC3E}">
        <p14:creationId xmlns:p14="http://schemas.microsoft.com/office/powerpoint/2010/main" val="1381889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26EA6-86D6-47AC-847C-2D6CEC1C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3–4｜一致性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86081-182C-484A-B0A6-61DE992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事务与异步事件：为什么要先提交再通知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63305-0EE7-4D05-B38A-457AC8D6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E2C3F-931E-47BB-8A55-5B49200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06D1-32C5-4E9E-9D29-9551FF71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以“完成 Todo”为例：主数据和操作记录要一致，通知等附属工作可以异步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2F35C-B79F-46CA-8794-D20C68B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3B2EC-02D0-4959-9356-8F96A8B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3187A-3EB1-4AA2-8042-48FB30C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进入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13A08-078B-479E-9374-51CAC4F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开始事务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2E783-FB82-4AB8-9F16-8EC41CA4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431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D4A8B-FED6-4BCE-AEDE-5B2EB37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336C3-61AF-41D5-B869-63AC26E8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4CECD-37B9-4213-BED6-D1D3CCB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更新 Todo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F0D87-9715-41C2-8923-FDCCB97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completed = 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22ECD-B2FA-4D02-A45B-66B232BD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7702B-F089-4C6C-83ED-F913605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2C08C-CF2E-4D73-BDEA-04261CB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9B21C-8E44-4EB7-8729-044E8589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写操作日志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F7076-B729-457D-A625-2AA00DE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14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同一事务内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4B54F-D188-4B1D-890B-16BB1E4B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DBFBC-010B-479D-8B61-19377F2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70B12-CABF-49DD-B030-C46FBFA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77D65-6255-43B2-8588-34708D5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提交事务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0FB50-78F8-4AC0-B734-69D0357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数据库确认成功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39296-FC7A-47F7-B556-CB5BCB04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B2A3F-B988-4146-8AC9-1D07F22C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0F56F-F54F-4950-A66B-5EFCDF2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24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F0A9C-E4AC-4D1C-87C9-258630E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发布事件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F2624-B606-4C51-B44E-706630B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通知后台消费者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4E6B1-30B1-4ED6-A395-E578B06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46BB0-9F9D-4E75-AB87-18A8D75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不要在提交前发送外部消息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96DFB-8B19-4179-9561-213088B4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消息先发出，数据库后回滚：消费者看到了不存在的变化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数据库先提交，消息发送失败：需要重试、Outbox 或补偿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84A2E-DD06-44D4-9F17-0F20BEA1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5105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63A41-6F0D-4DC7-9B6D-F62F343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学习时按风险拆分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983B57-7B40-4210-B206-D2ED740F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必须一致：Todo 状态、用户归属、操作日志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可以异步：通知、统计、搜索索引、审计扩展</a:t>
            </a:r>
          </a:p>
        </p:txBody>
      </p:sp>
    </p:spTree>
    <p:extLst>
      <p:ext uri="{BB962C8B-B14F-4D97-AF65-F5344CB8AC3E}">
        <p14:creationId xmlns:p14="http://schemas.microsoft.com/office/powerpoint/2010/main" val="1005320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FF1DE-C97F-4707-B9D8-EC3E955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4｜运行能力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FF8A5-62D9-4D38-8C47-D9500CBC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14–19 周：性能、异步与可观测性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DDFB7-1AA6-4BF7-B0F6-E7257BA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FF9F8-42ED-44A7-AB42-67ABF92C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2AA6E-AAEB-4363-9693-D275371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目标：知道哪里慢、哪些工作可以异步、服务现在是否健康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9A8FC-D215-45F7-8E33-9BF1CCE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周次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5637C-1A04-4170-887F-3CD774F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核心概念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EB98E-E5A7-43F2-AAA8-7984E65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在 Todo API 中练习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66B5D-D8B8-477E-9DFF-EABD8570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51E1C-16D8-43C4-A3AF-DFD839D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E7C5F-FDF5-4C98-9DE3-5D97C21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B0C26-6009-4049-9569-82D29437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W14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35A0C-32E1-4185-851F-3AF93064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缓存与性能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91C5A-C149-4B8D-A976-05B2680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找出重复查询；比较缓存命中和数据库查询；先讲清失效策略。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24360-61FE-434E-9C98-D62AB743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会测量，不凭感觉优化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1D7E7-8046-4837-9AF3-5D9C6F3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7515C-A438-4928-BD97-5F0B3E88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E0A38-669B-43C0-BA1D-3472461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W15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E1191-51D8-4718-8643-2478DE55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43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 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0C6A1-3937-416E-A38E-D3874B1A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设计 key、TTL、删除/更新失效；默认 profile 仍可不用真实 Redis。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FBB19-D716-45A9-92A2-4BEE1AA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知道旧数据何时会消失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518C2-070E-4AAA-BE92-88424CA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C83E1-23E9-4415-BE74-D5454AA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C7BE3-85A5-4FEE-B2D6-D8EC559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W16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3D22B-5E60-41A8-AFE1-DC47C72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事件 / 线程池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2B629-093B-4E17-8F6F-BCFC1D3F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把操作日志或通知移到后台；观察线程池大小和拒绝策略。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5A019-DC08-4748-8BF0-134CE4AB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能解释同步与异步取舍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51531-D153-4060-8F00-3EAF7024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EDEBE-E384-47E8-9423-DC305F98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AA55D-34F6-406B-AC43-DDD04C0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W17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C08B4-9071-4E52-B074-38CDC9B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38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定时任务 / 批处理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332034-C451-4620-BD32-68B0FBB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扫描过期 Todo；分批处理、避免一次加载全部数据。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331A40-7F80-4590-8328-870E23C7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任务可重复执行且可观察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DD0FAA-E3D2-4DF1-8ACA-1463E170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1A86D9-8D9A-4DD6-A20B-A899BC0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361A2-6746-459B-889E-1ECECB2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W18–19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30AB8E-F910-46E8-B99E-F5CC6E2D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Actuator / 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4453A1-E3EA-42E1-8B02-2485BE8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健康检查、指标、Profile、启动日志；区分本地和生产配置。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4D439-1C61-4C18-9107-315E9FE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知道服务是否活着、为何启动失败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3392EC-722D-48DD-B75C-C85BCDD0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618486-FD14-4D89-9A82-DB1454D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864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判断顺序：先测量 → 再定位 → 小步修改 → 测试和指标验证</a:t>
            </a:r>
          </a:p>
        </p:txBody>
      </p:sp>
    </p:spTree>
    <p:extLst>
      <p:ext uri="{BB962C8B-B14F-4D97-AF65-F5344CB8AC3E}">
        <p14:creationId xmlns:p14="http://schemas.microsoft.com/office/powerpoint/2010/main" val="1330944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5CB61-CC88-445D-A795-27AA18D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4｜重点概念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20774-73D4-4FEC-B433-F2A1C9A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缓存与 Redis：减少重复工作，但要管理旧数据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284EF-EB6D-470D-B065-96720DB8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C0F2D-8AE0-413C-BAF5-1796A2E9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5C83B-1E16-473D-907C-452DEB14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缓存不是数据库的替代品，而是“可重新计算的数据副本”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28BBE-EFFC-43FB-81B7-484A782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5292C-0BAC-4BD0-B8FF-54BD066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14DEB-F55F-4548-8356-2FC4F01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本地缓存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9133-1058-4CC8-9499-B1103B9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381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数据在单个 Java 进程内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优点：访问快、接入简单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限制：多实例不共享；重启会丢失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FBD76-072F-405A-8D15-E19784C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5276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6DBC6-646A-4E7E-8871-957D34E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663D8-BFFB-4C73-88C1-E4FF121C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 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18F08-E8AD-40A8-B4B3-DC908530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895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数据在独立服务中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优点：多实例共享；支持 TTL、原子操作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限制：网络调用；仍要考虑失效、穿透和雪崩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30A26-8E5E-4653-AA75-F99652F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设计缓存时必须回答 4 个问题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C31CF-7B33-4CFC-B0C4-3DACADDF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00F45-3BA4-409D-B79C-3583F9C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57128-DC43-4DF5-A9E6-E2F9ED59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91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key 命名是否包含 userId，避免串数据？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A9A31-F377-4986-83DC-60D9ADD0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55295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E1401-FA1A-4265-AE6C-2B6B2C33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00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TTL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2B45E-E14F-4C29-84E9-F96A1D3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91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多久过期？过期后谁重新加载？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C3BEF-0476-4720-A539-B839513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41C8C-FAED-467F-9E13-50C122B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失效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7448F-CB52-4F6D-B8E7-6140020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Todo 更新后，哪些 key 必须删除？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6B56D-C7D8-4CB8-AD81-F02C972B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0673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13240-B5C6-4034-B4F4-1C68B50A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149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3C015-2F57-4470-B3A5-10BE6DE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05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Redis 不可用时，接口是否回源数据库？</a:t>
            </a:r>
          </a:p>
        </p:txBody>
      </p:sp>
    </p:spTree>
    <p:extLst>
      <p:ext uri="{BB962C8B-B14F-4D97-AF65-F5344CB8AC3E}">
        <p14:creationId xmlns:p14="http://schemas.microsoft.com/office/powerpoint/2010/main" val="692407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C16D9-6E66-401C-93E9-B2304C0F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5｜业务复杂度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36D88-BED1-40A9-A5DF-6D977AC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20–23 周：真实业务边界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912A9-B7FB-4F9E-9448-D768C46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9DD15-9212-445B-B754-6596221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A0015-C39D-48A0-8744-B5D6C60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目标：处理文件、权限、测试和数据库性能这些真实项目问题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80065-332D-479F-82B1-1DFE5FA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周次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A6A27-6989-4F2B-A0EF-15DB5102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问题边界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5BF7D-3385-406E-BE10-BE319365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项目实现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0F3C2-C24A-44B3-9032-63977833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必须保护的场景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8429F-5761-46EC-860F-273906DD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3F08B-947C-47A8-A182-62BFBE2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DE539-C8CE-4B40-8A6B-B5C896C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W20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ADB8A-F36D-4E3E-9693-78B4633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附件管理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FE69A-D9C3-4BEC-8FBE-42A381F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文件存储和 attachment 元数据分开；支持上传、下载、类型与大小校验。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9475-19E2-4D82-B9F3-29F17759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上传成功但数据库失败时清理文件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85273-A6FE-4E3A-AAE1-6DAFF13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9BE98-F94E-44AF-8E8B-395716E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E023A-1D7E-4E40-861F-7FEBF48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W21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632B1-3736-4CC1-89EF-B81866F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76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RBAC 权限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166AC-2268-4AC9-97D9-E312BE5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用户、角色、权限；普通用户只能操作自己的 Todo，管理员可管理更多资源。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76774-E247-4718-AF8C-83A9F20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不能只在前端隐藏按钮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2BFD3-5AE2-4E47-8FBA-B25C91E4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A800D-4B87-4796-B5E2-8ED0EC87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BB924-17C3-4D3B-8E6A-ECFA0EC6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W22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C113E-4B68-4A54-8D42-3523CB6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57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 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3A959-7FEF-4DDF-9973-65DBE9A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Mock Repository；覆盖业务规则、异常、权限和事务边界。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785DD-453F-40EE-B6AB-6D3B4AB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测试不依赖真实数据库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F3E31-CD0B-4DC7-B016-77555012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C065C-9AE1-42DD-AAEC-EB3B2408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113B1-2818-4F8C-B967-F792F3D1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W23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7FD81-8B64-48C4-B13F-F6DB5A8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38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索引 / 慢 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BA615-FE75-43E4-9EC0-68D3E06E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386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用 EXPLAIN 查看查询计划；按 userId、completed、createdAt 设计索引。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EAEB9-1E5B-4382-9B59-B5494D5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优化前后要有可比较证据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D645F4-4CAA-41F7-92D8-073E12C8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57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1489C-D5AD-4037-A7C6-E633ABC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项目思维：先定义边界和失败场景，再决定代码放在哪一层</a:t>
            </a:r>
          </a:p>
        </p:txBody>
      </p:sp>
    </p:spTree>
    <p:extLst>
      <p:ext uri="{BB962C8B-B14F-4D97-AF65-F5344CB8AC3E}">
        <p14:creationId xmlns:p14="http://schemas.microsoft.com/office/powerpoint/2010/main" val="15859971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07C94-F9F8-4917-B97C-81DA55FE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5–6｜重点方法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9B7FF-D39C-44AF-9636-E7A7D8CF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数据库优化：从“接口慢”追到 SQL 和索引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48DC3-1B05-49D7-8B9E-A1EBE7B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E3468-279B-4307-BFF8-5DAD3328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9BD3B-E46D-47AE-AC40-51DF735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不要一看到慢就加缓存：先确认慢在哪里、为什么慢、改完是否真的变快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4DE3D-77CE-41D0-A19D-BAACB925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4D4C4-ECB3-49A4-9234-DCAF1C2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18180-D2B4-4FB4-AB11-BC5F7A7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AE537-5DA1-4B61-B2FE-5CC7433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6C5C2-200D-46F5-BBE4-68B0EB67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记录接口耗时、参数和数据量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DE51B-5B66-4335-AD99-9D4A1B5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8602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0E9EA-9D47-462C-94DA-A1AC2581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B809A-B8B5-4AB5-A543-90EAC7C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3547-00C7-43C5-B959-BD217109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D53B4-D402-4831-A8DE-E1308D0B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BF0EE-1859-4DD2-931B-7363B0D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日志 / SQL 日志确认慢查询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AB743-903D-4F5D-AFE6-41D47C33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8602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3AFC0-6F78-4F4C-B51A-F9E713A8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42A83-8BBD-476E-81D0-E11935F5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E0629-19AC-43CE-A22F-14333DC2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47249-AEA6-4135-8DB4-813EA536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09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394F1-40A9-42C0-9785-2FD894C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EXPLAIN 看扫描、排序、连接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1ABD3-02AF-4BBB-9A62-7E0AD31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8602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C7380-9EE0-4EEC-A93E-E11954D6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0AB1D-0AC6-47C7-818F-0CC59AEA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EF557-0347-4F8A-90F8-0B9886AC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6AE39-F843-4F32-B1CE-E70EEFAA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ED1A17-0066-42AF-9B4E-503D1CF0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索引、查询条件、分页方式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6241C-DDBD-49DA-B36A-B9D1AC1A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86025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F571B-0AA2-4BA7-A795-F4DF4F4D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DE9F5-98B0-497E-BAC1-C56C0C3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D27BE-8D56-4BEC-9CB7-3EC2585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0F1F3-EBB8-44AF-9162-727F60A7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对比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6D584-DD1F-4776-83E6-6DC63E0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同样数据和参数重新测量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B6DD39-86AE-4E73-9971-2FA45B3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 查询的实践检查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71E27-0549-4D9E-8DBD-1C56BDC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查询条件要命中常用索引：user_id、completed、created_at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分页不要一次把全部 Todo 加载进内存；关注 page size 和排序稳定性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JPA 方法名如 findByTitleContainingAndUserId 要检查生成 SQL 是否符合预期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索引不是越多越好：会增加写入成本，也要考虑选择性和组合顺序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8A86C8-6BE4-4D1F-9E9C-D0F8069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38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672984-863E-40E1-875B-CB0ABB45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记住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DDC2A0-489C-4760-882D-6CE06D51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9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性能优化必须有证据：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耗时、SQL、执行计划、优化后对比。</a:t>
            </a:r>
          </a:p>
        </p:txBody>
      </p:sp>
    </p:spTree>
    <p:extLst>
      <p:ext uri="{BB962C8B-B14F-4D97-AF65-F5344CB8AC3E}">
        <p14:creationId xmlns:p14="http://schemas.microsoft.com/office/powerpoint/2010/main" val="1108733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BF0998-0E8E-43F3-882E-AD0147A9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6｜基础设施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12FC3-9C13-4811-8E55-E98D0E6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24–27 周：生产工具与消息系统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DF577-2790-4013-B223-15F4753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332B8-92AD-440B-AF90-83D1B276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30B6E-CE7D-44EA-B2A0-2F7DEA5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目标：理解外部服务的职责，并知道项目如何切换到真实基础设施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FB643-A2EE-4FE6-B318-9778752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66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26273-CE5E-4A86-8512-A91A87A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W24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1BC19-BE02-42E8-82CD-301529A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打包运行环境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3217F-43B8-44DB-96D5-EDD65059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Java 应用、配置、依赖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如何变成可启动容器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C67FC-D8D3-451E-BF75-FFA1D4F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2266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CAC63-3EE9-4BC1-847C-65272FB2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W25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E4832-47DA-4107-A4A2-C4E8D1A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真实数据库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72A07-3929-4DC6-A81D-CCA57C3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约束、索引、迁移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生产数据结构设计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4348A-DD5D-4AEE-ABB0-FE155C2C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266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3EDFF-B670-487A-B58D-DC16B174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W26 Redis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44E51-EAB3-4FC3-9364-85BAF8D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共享状态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B9691-6B39-4840-81CA-87FA524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缓存、锁、限流、幂等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多实例之间共享数据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594E1-4666-4B2A-BEBF-F68F7D4B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266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BB9FC-3293-4649-84D5-9B4E842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W27 消息系统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9DF8A-3BEB-4C1D-A9D6-396AE9C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异步解耦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7C4CF-4327-4DBC-8AB4-9CC5B8BE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Kafka / RabbitMQ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ACK、重试、死信、幂等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41938-CA50-42D1-A4DB-6DFA9397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学习顺序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F0CF6-031A-426B-B7A9-2C092DA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89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7DAE6-1D80-4DC8-B384-5AC656A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默认运行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5A448-77C3-4D76-BEEC-7543DC6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H2 + 内存事件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9C2DF-52D5-4AEE-9826-AA33E5D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7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55FDC-4293-42DB-A7AF-65F2861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958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替换依赖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7411B-7ACD-4CF7-9FDD-F3A0D55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816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profile 接 PostgreSQL / Redis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1186F-7F7B-49DC-AA08-5CC1DBA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9A3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C4AFA-1785-4E26-A105-DA88E9D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接入消息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1155C-DF75-42DE-BA3F-AA90AE7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816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本地 broker + producer/consumer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AFB16-F365-4D5F-81EF-D2EE66A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464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12414A-91E8-41D6-8DD3-76DD7A8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验证失败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D6EB89-D388-4AC1-8991-340FF235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重试、超时、服务不可用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F3B45-D8B6-485C-8DEA-7DE35E2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当前学习前提：本机没有 PostgreSQL、Docker、Redis 或 Broker 也不影响默认代码运行。</a:t>
            </a:r>
          </a:p>
        </p:txBody>
      </p:sp>
    </p:spTree>
    <p:extLst>
      <p:ext uri="{BB962C8B-B14F-4D97-AF65-F5344CB8AC3E}">
        <p14:creationId xmlns:p14="http://schemas.microsoft.com/office/powerpoint/2010/main" val="1787053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3F1D29-A91D-48A3-97A9-4EEEFF3C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第 27 周｜重点概念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9DF3D-1509-4AD6-988B-B671BC0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 详解：可回放的事件日志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5A20E-CA0F-4249-9709-BA01B99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A3A36-72BF-423A-91C7-D0A52C79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1B40E-B764-4F8D-82FD-0B10643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Kafka 更像一条按顺序追加的事件日志：消息被保留，消费者按 offset 读取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EE493-5D97-461B-A658-4401A2F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7DE58-2325-42C6-AC3E-6FCBA38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4D2CD-06C7-4B7C-A9A0-4549114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发布 TodoChanged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342F9-B4A4-4388-B78E-C488DCB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D1ED0-0243-4209-A068-278BEF5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431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D8530-1689-4D2C-B5F9-17AB1FF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33387-DAD0-4F42-AC47-2DF100A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38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todo-events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9C9E5-A290-4008-9175-9CD5229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870E2-56B1-489E-AFA8-F62D5A2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A3B0A-8F45-49AB-840C-57763DDB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Partition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20DC3-9AFF-45AF-AE3F-D6539EF3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按 key 保序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368EC-67CF-4DE5-89F7-1188CE8C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860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1F976-94E4-4147-9B19-5F7B7D05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EF1ED-4123-48E9-A019-59EFF5B6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 Group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71392-80C8-4BB6-94C0-CBB204CB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各自维护 offset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A6E2A-57E5-4108-B632-C86C77BB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必须掌握的词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41AFA-BF3D-43C1-8022-0889F64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A6B3A-5FF6-499F-AA45-3DB711D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B9C87-C773-4D0D-BDC6-E64B8E90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338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事件分类；例如 todo-events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6FCC0-CCCC-49C8-B622-09CBCC2D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957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8A40A-FA39-4087-952D-ACBE99F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43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Partition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D2A5E-C99C-4CBA-B601-8C779D4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338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并行和局部有序的单位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5A707-9DC1-4085-9D3B-52FB740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C1BCC-FFAC-40B8-9607-49683CA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Key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2D460E-317B-45C7-862F-9879C719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相同 key 通常进入同一分区，保证局部顺序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E9A16-63F5-4492-B81B-AED9C22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529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429F4-3D01-4ED4-9F53-C8ED09F9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00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Offset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5E91A-B803-4D64-9EF2-5B53761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910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消费者读到的位置；可重试、可回放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519A5-82D8-48FF-A131-CD1468F5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1860D5-C72C-4A77-A3DD-6A19589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Consumer Group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FAE7BB-3443-420C-9C4F-E6D0019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一组消费者共同分摊分区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6246A5-E3B4-4874-BA44-1C2A14DF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101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EBB144-BADC-40DC-9D22-2AEB3A5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577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DLT / Retry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BCD68-CA52-4048-B581-04A2AB4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482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失败消息的重试和最终存放位置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63CA44-AF52-4489-B812-7E8A4E22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9C459-CAC5-4668-A079-05A22B4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 API 练习：保存 Todo → 发布 TodoChanged → 消费者写审计/统计 → 失败重试 → 幂等处理</a:t>
            </a:r>
          </a:p>
        </p:txBody>
      </p:sp>
    </p:spTree>
    <p:extLst>
      <p:ext uri="{BB962C8B-B14F-4D97-AF65-F5344CB8AC3E}">
        <p14:creationId xmlns:p14="http://schemas.microsoft.com/office/powerpoint/2010/main" val="1057352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1DCFAC-C5D8-4F42-BF03-31C4C341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第 27 周｜重点概念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D7BC3-E954-409A-91AE-726661A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RabbitMQ 详解：面向投递的业务队列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9717-2A92-41C4-9407-BBC45DE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CA6BC-8403-4E6F-8BC0-F22FF57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38392-86F6-48C1-9BD3-963556E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RabbitMQ 更强调消息如何路由到队列、如何确认消费，以及失败后如何重试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0B37E-777E-4D1D-95E3-EADFC8B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9CEB1-E778-45C1-97C8-A8330D1E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2B731-341E-4542-B515-E7C4F13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发布消息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3823B-5340-429F-9F0D-3677F15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F8C42-2552-4EF7-AD2E-1B1B278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E480F-FD67-4D70-B967-7BBF4B21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0221E-3851-4A97-A07C-8AD63FB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接收并路由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5C55B-BB99-41D0-8BA1-95E6FB36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E077D-D1EF-453B-90BF-DDD2D945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95539-DE66-459F-96FA-65BD05B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Binding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01695-6ECA-4931-8050-AB9F93ED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规则 + routing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D050C-18EC-4900-B1BB-B21F0931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AAD0A-1F62-47F0-B673-024B133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1080F-2218-4041-AE9A-72DB9912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294A5-D127-44E9-87C6-E060125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38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等待消费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88586-07BF-4575-9A41-80341241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50107-1FC7-4CB9-AFB5-1326DBB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C0CAD-EC21-4989-BBFA-A12C9E2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1C774-9349-4303-B714-369B8854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处理并 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3F893-65A0-4807-93D0-0B8C4370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必须掌握的词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FF301-E212-4F0D-A80F-5F5D4D90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53E5B-4394-4369-9556-DD40AD1E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9AF15-5C7A-4DBB-A8FD-4B28534E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338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不直接保存消息，负责路由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3A203-C0AC-47D5-BABD-3CDE934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957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2BF0E-CFD4-4595-9290-0280816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433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Routing Key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8601DC-5EF8-4B7A-BBD9-3628E7B9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338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消息携带的路由信息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8C0F3-7DFD-4652-9BB8-8C85D34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C3D3F-27AC-42B3-A3BC-82151104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AEC6B0-36D1-4BA7-A0D2-B9C8F5B1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910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真正等待消费者处理的队列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722BF-12EC-476B-AD7A-C55CC8DB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529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6B595-2914-4F87-B61A-3A6BC84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005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AAFA8C-1E4A-4372-8CFF-05B5BD8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910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处理成功后确认；未确认可重新投递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661E2A-C908-49CB-8B36-BFC0805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6FFA2-9E3D-41B7-9CD5-1B110BC6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DLX / DLQ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27F996-19A3-4F61-8CC5-53FEAFCE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失败消息转发到死信交换机/队列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3630EE-3D67-4230-B877-2E83F2A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10100"/>
            <a:ext cx="1352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E79AD1-B766-4F74-B107-0E2CBA6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5772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幂等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8F4FA3-7D24-4ADC-A3CF-877E4DBF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4820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重复投递时，业务结果不能被重复污染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255141-F736-4877-A0D8-E3D6487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DD98B0-7BFF-493C-8C3E-C75BCCA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 API 练习：完成 Todo → 投递通知任务 → 成功 ACK；失败重试 → 超限进入 DLQ → 管理员查看</a:t>
            </a:r>
          </a:p>
        </p:txBody>
      </p:sp>
    </p:spTree>
    <p:extLst>
      <p:ext uri="{BB962C8B-B14F-4D97-AF65-F5344CB8AC3E}">
        <p14:creationId xmlns:p14="http://schemas.microsoft.com/office/powerpoint/2010/main" val="11556697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EAA771-C6CD-42CA-8EB2-5E3B270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7｜收束能力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E8E59-359B-498C-9D64-735BC042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28 周：综合复盘与重构计划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841C-553B-452F-B83F-99D3607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7275-8EF4-4A9C-BF9A-1A1F7F3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142FE-91A6-4D81-9909-7C24D83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目标：保持接口行为不变，用小步改动改善结构、测试和排错能力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9BBE-0A6D-4008-BCC5-75BA6BA4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A0DE-366A-41C9-92C6-232156B3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24BEA-F846-44B5-895D-D4B52F7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95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画请求链路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5EA2B-1C2F-4108-BB15-C812AA6E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954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跟踪登录、创建 Todo、查询列表各一条请求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5D495-9D06-40D4-BC66-80697D1B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954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输出一张架构图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C8D0B-8119-4910-8F8E-65C32DF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71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E2C0C-2DA6-4C04-BA12-17D6CC6E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41C66-364A-4845-882F-94DAD17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BD923-970E-402B-93BB-D75D22B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拆职责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59BCD-DC14-4436-AAF5-409E6FFC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907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检查 Controller 是否混入业务；把规则移到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FA8D6-4045-40EA-B7DC-654201D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测试保持绿色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92559-021E-4AC1-A21D-952119C8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EF88D-6720-4720-A090-0756216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AAC8C-C3EB-49F7-857E-E1026D1B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2469B-4EEB-4A42-A719-95B6F712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看模型边界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284E3-E404-407A-B63C-955D5F24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检查 DTO、Entity、Mapper 是否互相泄漏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ED835-2CEB-4215-9833-6FE72467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860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接口响应不变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B6326-55FB-409B-98DD-0A887A74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62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F3589-20A3-45B8-AAC3-9DE871FA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F55A6-7F64-4A85-9AF1-D0B5A1C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13687-1826-4854-B026-C860EFC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查一致性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8EE9E-E4A6-4CCE-927C-5ED2FC1E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检查事务、软删除、附件清理和操作日志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21DE03-763A-4806-B5FC-5D2CA25B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补失败路径测试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010BC-03F0-447D-9451-30CFFF36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576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A6463-C51B-4CD0-8DAC-F594352C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4A537-ED4E-4CA3-B8AD-D33A0423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C146DC-123B-401A-9478-6FB4E983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串基础设施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1E975-4593-4111-84E9-350AFAC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766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复查缓存 key、异步事件、重试、幂等和 DLQ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335049-33CA-4521-82B3-AE27826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766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写出故障处理说明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55ED4D-A445-4EF2-8801-AB79755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E999E0-422F-453B-894B-B551BAD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F9707-7941-4412-AB25-3E43906B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C1CE0-7ADB-4C06-B78E-D5C6E5C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跑工程验证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E9C21C-B47A-457D-A740-54A4F74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测试、构建、启动、健康检查、日志排查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7D0081-B18A-46D2-947E-D885358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719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得到一份验证清单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DAB212-DCB6-4DC2-8523-1293CE3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48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1846BA-534C-491F-9D5B-CAECF65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30D439-EC93-497D-9BAF-A0B3289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6B87CF-6E9E-4094-8C50-733D78F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复盘交付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FD8085-0B2B-4F4A-A545-71A1F01F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672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从需求到部署讲一遍完整流程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72A2D-4C35-40BD-8871-3616697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67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更新 README 和 docs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7AC736-F6D9-4C35-8DB6-B593AE5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57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645A22-2110-4378-A4B5-FA763E5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重构规则：一次只改一个问题；先保护外部行为；改完立即跑测试；记录取舍和遗留风险</a:t>
            </a:r>
          </a:p>
        </p:txBody>
      </p:sp>
    </p:spTree>
    <p:extLst>
      <p:ext uri="{BB962C8B-B14F-4D97-AF65-F5344CB8AC3E}">
        <p14:creationId xmlns:p14="http://schemas.microsoft.com/office/powerpoint/2010/main" val="7438866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C26CD3-BBF7-4DF7-8D06-8DFD40A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最终能力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A072A-9DE7-48C9-B921-A7C34482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学完之后：你能独立完成什么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1214C-254B-4A94-9D29-E5DAD474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3A577-BA61-461A-BBB2-05F5E299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23294-2776-4606-9C9C-7D25284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从写一个接口，走到理解一个后端系统如何运行、失败和演进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DD2A-51B6-49C2-898B-715C5817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48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86FC-551D-4A5B-ACD6-1A0C568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1E43E-C74C-457F-94A7-A06CD22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AD673-2DFA-40B3-A662-95920E0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6251C-8653-44E8-A691-48FE913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REST API + DTO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7DB88-6C27-4455-B773-3356D15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A6FCC-1DA4-4EAF-A52B-68369B6F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04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JPA + 迁移 + 分页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4AD9F-AB49-4F63-A8CE-1B4F861B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76286-64EB-451D-9C2A-F009995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JWT + 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BB590-7F83-4AF2-AB0B-9FCD1C4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C547-B84B-480A-9844-9A8596A9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附件 + 消息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78341-3745-474C-AAA2-D9E31053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3048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256B4-D808-4E9A-B352-76A6CEB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62704-8372-432B-AD4A-039FFC4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排查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C7799-EEA7-4E5C-A202-7022F18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33EDA-72A5-4F9D-A435-7D257EF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76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统一错误响应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B6CF7-6FAD-4AB2-A5F3-89A516CB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02E3E-FC74-4B33-9552-21DC1DE9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04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日志 + requestId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74E58-DC4E-4342-88F2-34757CE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F1B42-2237-4DBD-95C5-9EE20D76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4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Actuator 健康状态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B9E30-F6A1-4A5E-BDC9-283DA20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E5AA0-E6BE-4C0B-B1FB-BE861F8E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SQL + 慢查询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5D3719-CE95-4BDC-84A2-486D7FAA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048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16B9E-7982-4425-85EA-37DEECF8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956FD-0CDD-4601-AB9E-1AB776D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改进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CBD58-BBB1-4DCF-A122-9D922CC8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482F6D-44A3-48E6-B4C6-FA23853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缓存 + Redis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33251-8C3D-4463-8BC9-80A1DB0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5360F-1538-487D-B19E-EC65552F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04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限流 + 幂等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F2D570-9ABA-4F42-B139-43CDE5F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8B529-191E-45D3-9CE0-7708A19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24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 + 死信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94D36-162F-4D2E-851C-A9A853B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BF8E3-7DC0-4927-9A29-CB4C3F38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测试 + 重构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46B9C6-4CBA-48FF-93AD-1B734235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A9D14F-2712-4C5E-A5A1-A6AC59CC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Outbox 可靠消息 → 真实 Broker 集成测试 → CI/CD → 云部署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907164-BF0E-46D0-A29C-8DD6DC0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最终判断标准：你能否解释代码为什么这样设计，以及出问题时从哪里开始查？</a:t>
            </a:r>
          </a:p>
        </p:txBody>
      </p:sp>
    </p:spTree>
    <p:extLst>
      <p:ext uri="{BB962C8B-B14F-4D97-AF65-F5344CB8AC3E}">
        <p14:creationId xmlns:p14="http://schemas.microsoft.com/office/powerpoint/2010/main" val="54421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2026-09-15T02:26:35.5380000Z</dcterms:created>
  <dcterms:modified xsi:type="dcterms:W3CDTF">2026-09-15T02:26:35.5380000Z</dcterms:modified>
</coreProperties>
</file>