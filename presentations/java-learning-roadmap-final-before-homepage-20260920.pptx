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670a7b0c8d4330" /><Relationship Type="http://schemas.openxmlformats.org/officeDocument/2006/relationships/extended-properties" Target="/docProps/app.xml" Id="Rb81fbbaf0de3485e" /><Relationship Type="http://schemas.openxmlformats.org/officeDocument/2006/relationships/officeDocument" Target="/ppt/presentation.xml" Id="R7150365107f64e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e33f97ac4a454e"/>
  </p:sldMasterIdLst>
  <p:notesMasterIdLst>
    <p:notesMasterId xmlns:r="http://schemas.openxmlformats.org/officeDocument/2006/relationships" r:id="Ra0fdc1d9f09d49cf"/>
  </p:notesMasterIdLst>
  <p:sldIdLst>
    <p:sldId xmlns:r="http://schemas.openxmlformats.org/officeDocument/2006/relationships" id="256" r:id="Rdae7c7c401404212"/>
    <p:sldId xmlns:r="http://schemas.openxmlformats.org/officeDocument/2006/relationships" id="257" r:id="R97cbaf33a99f42e0"/>
    <p:sldId xmlns:r="http://schemas.openxmlformats.org/officeDocument/2006/relationships" id="258" r:id="R2d7f05836e7b4f20"/>
    <p:sldId xmlns:r="http://schemas.openxmlformats.org/officeDocument/2006/relationships" id="259" r:id="R888c3b757a7f4555"/>
    <p:sldId xmlns:r="http://schemas.openxmlformats.org/officeDocument/2006/relationships" id="260" r:id="R2dc35a5d769f44e6"/>
    <p:sldId xmlns:r="http://schemas.openxmlformats.org/officeDocument/2006/relationships" id="261" r:id="R734e731e61e243e6"/>
    <p:sldId xmlns:r="http://schemas.openxmlformats.org/officeDocument/2006/relationships" id="262" r:id="Rd321aaae700240ac"/>
    <p:sldId xmlns:r="http://schemas.openxmlformats.org/officeDocument/2006/relationships" id="263" r:id="Rbfd8b6b7eae0485d"/>
    <p:sldId xmlns:r="http://schemas.openxmlformats.org/officeDocument/2006/relationships" id="264" r:id="R5900f37c422749d2"/>
    <p:sldId xmlns:r="http://schemas.openxmlformats.org/officeDocument/2006/relationships" id="265" r:id="Rb2507935f8a146ab"/>
    <p:sldId xmlns:r="http://schemas.openxmlformats.org/officeDocument/2006/relationships" id="266" r:id="R31b63947a5004b40"/>
    <p:sldId xmlns:r="http://schemas.openxmlformats.org/officeDocument/2006/relationships" id="267" r:id="R2a946bf44cba49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22233d47624056" /><Relationship Type="http://schemas.openxmlformats.org/officeDocument/2006/relationships/slideMaster" Target="/ppt/slideMasters/slideMaster1.xml" Id="R6fe33f97ac4a454e" /><Relationship Type="http://schemas.openxmlformats.org/officeDocument/2006/relationships/notesMaster" Target="/ppt/notesMasters/notesMaster1.xml" Id="Ra0fdc1d9f09d49cf" /><Relationship Type="http://schemas.openxmlformats.org/officeDocument/2006/relationships/presProps" Target="/ppt/presProps.xml" Id="Rdab35fbde9ee4bae" /><Relationship Type="http://schemas.openxmlformats.org/officeDocument/2006/relationships/tableStyles" Target="/ppt/tableStyles.xml" Id="R3008da0d5e92423f" /><Relationship Type="http://schemas.openxmlformats.org/officeDocument/2006/relationships/slide" Target="/ppt/slides/slide1.xml" Id="Rdae7c7c401404212" /><Relationship Type="http://schemas.openxmlformats.org/officeDocument/2006/relationships/slide" Target="/ppt/slides/slide2.xml" Id="R97cbaf33a99f42e0" /><Relationship Type="http://schemas.openxmlformats.org/officeDocument/2006/relationships/slide" Target="/ppt/slides/slide3.xml" Id="R2d7f05836e7b4f20" /><Relationship Type="http://schemas.openxmlformats.org/officeDocument/2006/relationships/slide" Target="/ppt/slides/slide4.xml" Id="R888c3b757a7f4555" /><Relationship Type="http://schemas.openxmlformats.org/officeDocument/2006/relationships/slide" Target="/ppt/slides/slide5.xml" Id="R2dc35a5d769f44e6" /><Relationship Type="http://schemas.openxmlformats.org/officeDocument/2006/relationships/slide" Target="/ppt/slides/slide6.xml" Id="R734e731e61e243e6" /><Relationship Type="http://schemas.openxmlformats.org/officeDocument/2006/relationships/slide" Target="/ppt/slides/slide7.xml" Id="Rd321aaae700240ac" /><Relationship Type="http://schemas.openxmlformats.org/officeDocument/2006/relationships/slide" Target="/ppt/slides/slide8.xml" Id="Rbfd8b6b7eae0485d" /><Relationship Type="http://schemas.openxmlformats.org/officeDocument/2006/relationships/slide" Target="/ppt/slides/slide9.xml" Id="R5900f37c422749d2" /><Relationship Type="http://schemas.openxmlformats.org/officeDocument/2006/relationships/slide" Target="/ppt/slides/slide10.xml" Id="Rb2507935f8a146ab" /><Relationship Type="http://schemas.openxmlformats.org/officeDocument/2006/relationships/slide" Target="/ppt/slides/slide11.xml" Id="R31b63947a5004b40" /><Relationship Type="http://schemas.openxmlformats.org/officeDocument/2006/relationships/slide" Target="/ppt/slides/slide12.xml" Id="R2a946bf44cba49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7dbb5e2d0d41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90bcb215a14faf" /><Relationship Type="http://schemas.openxmlformats.org/officeDocument/2006/relationships/notesMaster" Target="/ppt/notesMasters/notesMaster1.xml" Id="Ra3d9a5fd3f664e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cae809aa354fba" /><Relationship Type="http://schemas.openxmlformats.org/officeDocument/2006/relationships/notesMaster" Target="/ppt/notesMasters/notesMaster1.xml" Id="Reeb7cb35130540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8f7e043f3a4812" /><Relationship Type="http://schemas.openxmlformats.org/officeDocument/2006/relationships/notesMaster" Target="/ppt/notesMasters/notesMaster1.xml" Id="Ra5d0edf2afd746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11da560c3d4fa7" /><Relationship Type="http://schemas.openxmlformats.org/officeDocument/2006/relationships/notesMaster" Target="/ppt/notesMasters/notesMaster1.xml" Id="R36ddc9272f574a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bce6838d5649cf" /><Relationship Type="http://schemas.openxmlformats.org/officeDocument/2006/relationships/notesMaster" Target="/ppt/notesMasters/notesMaster1.xml" Id="R41f5a4829a6c45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d5666ce1bb42c1" /><Relationship Type="http://schemas.openxmlformats.org/officeDocument/2006/relationships/notesMaster" Target="/ppt/notesMasters/notesMaster1.xml" Id="R6b37166d5a6441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5a425ae39d4d2a" /><Relationship Type="http://schemas.openxmlformats.org/officeDocument/2006/relationships/notesMaster" Target="/ppt/notesMasters/notesMaster1.xml" Id="R6f4c14391ea646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84e9489be04c04" /><Relationship Type="http://schemas.openxmlformats.org/officeDocument/2006/relationships/notesMaster" Target="/ppt/notesMasters/notesMaster1.xml" Id="R65e08f7d19854d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60ffc4941141af" /><Relationship Type="http://schemas.openxmlformats.org/officeDocument/2006/relationships/notesMaster" Target="/ppt/notesMasters/notesMaster1.xml" Id="Rf91d27a048ed49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93846ca460d4651" /><Relationship Type="http://schemas.openxmlformats.org/officeDocument/2006/relationships/notesMaster" Target="/ppt/notesMasters/notesMaster1.xml" Id="R0c9e71637146497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ac75122e16749c5" /><Relationship Type="http://schemas.openxmlformats.org/officeDocument/2006/relationships/notesMaster" Target="/ppt/notesMasters/notesMaster1.xml" Id="Rec7f6f3f44df488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5b7f087d3c34d09" /><Relationship Type="http://schemas.openxmlformats.org/officeDocument/2006/relationships/notesMaster" Target="/ppt/notesMasters/notesMaster1.xml" Id="R05f57a57028b46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开场：这份路线以一个 Todo API 为主线，每周只增加一个可验证的后端能力。建议把 PPT 当作导航，把项目代码和 docs 当作主教材。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建议每天固定在同一个时间段学习。不要把两个小时全部用来观看课程，至少一半时间要在项目中写代码或运行测试。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这是一张能力地图，不是考试大纲。每到一个阶段，先确认前一阶段的能力可以通过项目接口或测试验证。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对于前端开发者，重点不是重新学习所有编程概念，而是把已经熟悉的模块化、异常、依赖管理和数据流思维迁移到 Java。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这部分是前端最容易建立直觉的地方：把 Controller 当成后端路由，把 DTO 当成接口类型，把 Service 当成业务状态转换层。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工程化不是堆工具。第 9–13 周的核心是建立边界：输入有校验，错误有编码，数据有事务，变化有记录，行为有测试。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强调事务提交和异步事件的关系：先确保主数据成功，再处理附属日志。后面第 27 周会把事件继续接到 Kafka 或 RabbitMQ。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这一阶段可以用前端视角理解：权限就是页面和接口的访问边界，附件是文件系统和数据库的边界，测试是代码变更和用户行为之间的边界。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24–27 周刻意保留了无外部服务的默认路径，先理解代码边界，再连接真实基础设施，学习阻力会更小。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讲解重点：Kafka 的核心是 Topic、Partition、Offset、Consumer Group；RabbitMQ 的核心是 Exchange、Queue、Binding、Routing Key、ACK。两者都需要重试、死信和幂等。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28 周不是把所有代码重写一遍，而是用小步改动证明：结构可以变，用户看到的行为不能无故变。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收尾：这套路线的成果不是背诵框架，而是能够从需求、接口、数据、异常、测试和运行状态多个角度理解一个 Java 后端项目。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b420b92b8847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f314856367490b" /><Relationship Type="http://schemas.openxmlformats.org/officeDocument/2006/relationships/slideLayout" Target="/ppt/slideLayouts/slideLayout1.xml" Id="R54df5086d91c45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df5086d91c45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86fed0f12c4aba" /><Relationship Type="http://schemas.openxmlformats.org/officeDocument/2006/relationships/notesSlide" Target="/ppt/notesSlides/notesSlide1.xml" Id="R5101e336b3784e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ebbc457c374ef0" /><Relationship Type="http://schemas.openxmlformats.org/officeDocument/2006/relationships/notesSlide" Target="/ppt/notesSlides/notesSlide2.xml" Id="Ra204d2ce8e264d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541b8a0c8408a" /><Relationship Type="http://schemas.openxmlformats.org/officeDocument/2006/relationships/notesSlide" Target="/ppt/notesSlides/notesSlide3.xml" Id="Rf4be39c50e9648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bd83d237844c8e" /><Relationship Type="http://schemas.openxmlformats.org/officeDocument/2006/relationships/notesSlide" Target="/ppt/notesSlides/notesSlide4.xml" Id="R437c0dfe091d40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707cbe9f554afe" /><Relationship Type="http://schemas.openxmlformats.org/officeDocument/2006/relationships/notesSlide" Target="/ppt/notesSlides/notesSlide5.xml" Id="Rb109c25f46e94a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290bb2f55410b" /><Relationship Type="http://schemas.openxmlformats.org/officeDocument/2006/relationships/notesSlide" Target="/ppt/notesSlides/notesSlide6.xml" Id="R139f186f61e649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ad4fce84094b18" /><Relationship Type="http://schemas.openxmlformats.org/officeDocument/2006/relationships/notesSlide" Target="/ppt/notesSlides/notesSlide7.xml" Id="R6249c39c678545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2f273d9a324571" /><Relationship Type="http://schemas.openxmlformats.org/officeDocument/2006/relationships/notesSlide" Target="/ppt/notesSlides/notesSlide8.xml" Id="R46e5074b00944d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b2ad53ee2f44fa" /><Relationship Type="http://schemas.openxmlformats.org/officeDocument/2006/relationships/notesSlide" Target="/ppt/notesSlides/notesSlide9.xml" Id="R257d6b81396e437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f8603e0a2b426b" /><Relationship Type="http://schemas.openxmlformats.org/officeDocument/2006/relationships/notesSlide" Target="/ppt/notesSlides/notesSlide10.xml" Id="Rd1e24b54020a4e5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863215044540ef" /><Relationship Type="http://schemas.openxmlformats.org/officeDocument/2006/relationships/notesSlide" Target="/ppt/notesSlides/notesSlide11.xml" Id="R0512d87ea607480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0007e056f4d7f" /><Relationship Type="http://schemas.openxmlformats.org/officeDocument/2006/relationships/notesSlide" Target="/ppt/notesSlides/notesSlide12.xml" Id="Rf574b388dd5f41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3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C6CFEE-87B0-4390-9DB0-AAD5A8EC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7AA5B1-E8C8-4383-A0BF-93C3FFB4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14450"/>
            <a:ext cx="638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28 周 Java 后端学习路线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521CE0-BE7D-4564-BEE2-AD1636F4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C7D5D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7D5DB"/>
                </a:solidFill>
                <a:latin typeface="Arial"/>
                <a:ea typeface="Arial"/>
                <a:cs typeface="Arial"/>
              </a:rPr>
              <a:t>每天 2 小时，从前端开发者到能独立写 Java 程序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AA45BB-DA03-4497-A08D-A4134A5C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项目驱动 · Java 21 · Spring Boot · Todo API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D00611-EA44-4BE1-B1D0-AA6B1EAF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00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8EA4A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EA4AE"/>
                </a:solidFill>
                <a:latin typeface="Arial"/>
                <a:ea typeface="Arial"/>
                <a:cs typeface="Arial"/>
              </a:rPr>
              <a:t>学习地图 / 实践节奏 / 最终能力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D3A981-6A45-4C67-8855-F9BEB4A8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0668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C7D5D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D5DB"/>
                </a:solidFill>
                <a:latin typeface="Arial"/>
                <a:ea typeface="Arial"/>
                <a:cs typeface="Arial"/>
              </a:rPr>
              <a:t>从语法到系统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E7B3D7-D575-49BB-9319-9F1B029C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954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9E94DD-5E53-496B-92C9-BB986EDD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01A760-24E5-4898-B429-42A566F8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28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Java 基础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4CD064-26EE-4367-A088-C60866C1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33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CD09EF-6A68-42D3-88A9-715B57C1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479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4FDEBF-4FB6-4E20-9E2E-288216CF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Web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E1711F-9FF0-48BA-AB57-A8FDE9E4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71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C137E3-13A4-42D6-AFD7-E7E05742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861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5F028A-9A4E-4F6F-8C7D-316CE60E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05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工程能力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36C2F9-F2F0-43B8-9B53-48C8E843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100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8464D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2D12C1-F52C-4E0A-9965-4F26731A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243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FF2D24-3875-4290-9BCA-7B2A6B0C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43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综合重构</a:t>
            </a:r>
          </a:p>
        </p:txBody>
      </p:sp>
    </p:spTree>
    <p:extLst>
      <p:ext uri="{BB962C8B-B14F-4D97-AF65-F5344CB8AC3E}">
        <p14:creationId xmlns:p14="http://schemas.microsoft.com/office/powerpoint/2010/main" val="9668884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D62BB0-25EA-48C2-8A57-8B539558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学习方法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F16C06-4F42-4FDF-AE64-C03AD00B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每天 2 小时的学习闭环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2FF438-93E6-4BC4-B3B7-ADF4E4AC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3CA809-3524-4F75-BD87-EFD3FB55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D6A621-926E-42EC-B655-D7E9E166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把学习拆成固定动作，降低开始成本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6DFD06-D306-4F62-8DF7-6236F78B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40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2h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780AE3-F01B-4B37-8E6E-82C4791B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每天只解决一个小问题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78CB39-A45F-4231-8710-6E874DF4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6220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B02B73-F95B-4754-9304-011AC13F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95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B53FFB-9A51-4C7B-8142-77BDEA17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28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618EC3-2CF2-479F-9071-6FE53F27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194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读代码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231362-5E84-4C08-8E17-85DA805A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2420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20 分钟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B084D6-067C-4A37-B9D4-60F8791D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86000"/>
            <a:ext cx="685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39A952-ADF7-4920-ADFE-0DFA6998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363818-1EB3-4208-B2B8-5BEC7EFA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28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50A7D7-2786-42AB-AFE2-7D599DA8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194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做功能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F88065-A724-4BEB-8346-6449FF6F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2420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70 分钟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B79567-3265-4082-9B2A-BC99469B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86000"/>
            <a:ext cx="685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1B1F98-51FE-494F-8AF6-5688E1DD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9996F6-2ED3-4240-97B3-A74B4BE2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28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9047E5-F0FF-4E38-92C6-0C5FEBA9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194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跑测试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ED60F9-2F96-4BEC-BA24-13AF6314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2420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20 分钟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FCB62A-11E5-4268-BE0D-A85466B2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86000"/>
            <a:ext cx="685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0E7748-9F95-4195-BD43-973F6F17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95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464D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7E7723-273B-4ABA-8C45-A704F557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28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A4A383-04DE-430E-8FCA-BCA16D8C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194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写复盘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83CEE0-1375-4023-89E0-B774AC0B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2420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10 分钟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41574A-B686-4AE7-A23D-B22F8C9F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1A9F07-EA17-4869-927D-A26CFC81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学习原则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A05A4B-F12C-4993-9D31-63A6C0CA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229100"/>
            <a:ext cx="7429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10000"/>
              </a:lnSpc>
              <a:spcAft>
                <a:spcPts val="800"/>
              </a:spcAft>
              <a:buNone/>
              <a:defRPr sz="15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E2D38"/>
                </a:solidFill>
                <a:latin typeface="Arial"/>
                <a:ea typeface="Arial"/>
                <a:cs typeface="Arial"/>
              </a:rPr>
              <a:t>先读当前项目代码，再补充概念</a:t>
            </a:r>
          </a:p>
          <a:p xmlns:a="http://schemas.openxmlformats.org/drawingml/2006/main">
            <a:pPr marL="228600" indent="-114300">
              <a:lnSpc>
                <a:spcPct val="110000"/>
              </a:lnSpc>
              <a:spcAft>
                <a:spcPts val="800"/>
              </a:spcAft>
              <a:buNone/>
              <a:defRPr sz="15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E2D38"/>
                </a:solidFill>
                <a:latin typeface="Arial"/>
                <a:ea typeface="Arial"/>
                <a:cs typeface="Arial"/>
              </a:rPr>
              <a:t>每周只完成一个可验证的小能力</a:t>
            </a:r>
          </a:p>
          <a:p xmlns:a="http://schemas.openxmlformats.org/drawingml/2006/main">
            <a:pPr marL="228600" indent="-114300">
              <a:lnSpc>
                <a:spcPct val="110000"/>
              </a:lnSpc>
              <a:spcAft>
                <a:spcPts val="800"/>
              </a:spcAft>
              <a:buNone/>
              <a:defRPr sz="15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E2D38"/>
                </a:solidFill>
                <a:latin typeface="Arial"/>
                <a:ea typeface="Arial"/>
                <a:cs typeface="Arial"/>
              </a:rPr>
              <a:t>先写测试，再做重构</a:t>
            </a:r>
          </a:p>
          <a:p xmlns:a="http://schemas.openxmlformats.org/drawingml/2006/main">
            <a:pPr marL="228600" indent="-114300">
              <a:lnSpc>
                <a:spcPct val="110000"/>
              </a:lnSpc>
              <a:spcAft>
                <a:spcPts val="800"/>
              </a:spcAft>
              <a:buNone/>
              <a:defRPr sz="15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E2D38"/>
                </a:solidFill>
                <a:latin typeface="Arial"/>
                <a:ea typeface="Arial"/>
                <a:cs typeface="Arial"/>
              </a:rPr>
              <a:t>把问题记录到 docs 的复盘区</a:t>
            </a:r>
          </a:p>
        </p:txBody>
      </p:sp>
    </p:spTree>
    <p:extLst>
      <p:ext uri="{BB962C8B-B14F-4D97-AF65-F5344CB8AC3E}">
        <p14:creationId xmlns:p14="http://schemas.microsoft.com/office/powerpoint/2010/main" val="16083158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6D2C9A-5964-45FB-A001-5EC6EC7C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路线总览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4AA39B-319B-4CF9-9448-87243DB1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28 周能力地图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5B03E5-C282-49B6-BEFF-93960BDE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1340D7-A872-4FCD-96D9-2643EBC2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11C0BC-2A27-44C4-BA15-8A17EFCA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每个阶段都对应一个可以运行、可以验证的项目能力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230007-8B06-48CA-BB98-195F5BD0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287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FEBE5D-CBC1-49F6-BC4D-9D9A2A2D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33575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01–03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DD9AA4-38C6-4605-ABCB-AF2930E7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8764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Java 基础与分层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9F0542-0558-450E-905C-D83E8791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14525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能写 Java 程序，理解对象、集合、异常和 Maven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7D3979-0DE3-4ABF-B342-1195EF82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0775"/>
            <a:ext cx="10287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576CE6-83B9-4D05-AF0E-04E6F709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04–08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C2E3ED-2FC0-4CD5-9196-04B878D9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419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Spring Boot 与认证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50A5A3-0E5E-4131-9E4D-A3E983CB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5745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能做 REST API，完成登录和用户数据隔离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49BAF3-78F3-4A71-8E18-8D23E2A4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287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7D14BA-D787-4559-B753-790B09EF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19425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09–13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D233B3-6F46-4D87-822E-C2C14D6F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9622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工程基础与一致性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13C7FD-0D40-4155-97A4-4719F102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00375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能写文档、日志、测试、事务和操作记录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5E2A94-CE17-488A-9703-79DD934E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0287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8464D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8AF222-3FC5-4CF9-B3FE-64494A2D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14–19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5FC526-3CE9-4CD4-A0DB-836B1691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505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性能、异步与观测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F51956-CC32-495E-A65B-26752FD1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4330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会用缓存、Redis、事件、定时任务和 Actuator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07FE4E-38D5-4472-B8C8-35D3C4B4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0287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9686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0A9B50-7CFB-43B2-B37F-2BE4C238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05275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20–23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6D729E-9DC0-4E73-AF4F-08BAB935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0481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真实业务边界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56D1E5-D64C-423D-A344-B207BBFA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86225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处理附件、RBAC、Service 测试、索引和慢 SQL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966031-9AB4-40BE-942B-37D8AF51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62475"/>
            <a:ext cx="10287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6C3507-BD03-4EE0-88D1-1DEFB2E6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24–27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0A94E5-23CC-4909-B9C8-CDFF3B6F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5910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生产工具与消息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3F75F9-D758-44FA-97B9-A479B1CF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62915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理解 Docker、PostgreSQL、Redis、Kafka、RabbitMQ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335390-7F4A-4D17-8610-C8447879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287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BDC39F-B549-4B50-AD50-FF38586F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91125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DF0C1E-0D10-4BA5-B09A-3DCE0586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1339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综合复盘与重构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99C2F5-4BA8-406B-A108-0D8885FE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172075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保持行为不变，改善结构、测试和排错能力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924F34-59DC-4461-A29B-CABCAE90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主线项目：java-todo-api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2D6B0D-147D-4737-A20B-B3361236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674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不追求一次学完所有 Java，而是持续把一个项目做完整。</a:t>
            </a:r>
          </a:p>
        </p:txBody>
      </p:sp>
    </p:spTree>
    <p:extLst>
      <p:ext uri="{BB962C8B-B14F-4D97-AF65-F5344CB8AC3E}">
        <p14:creationId xmlns:p14="http://schemas.microsoft.com/office/powerpoint/2010/main" val="8705929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C9569C-9BDC-45E7-B056-B5214EF1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1｜第 1–3 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CB2C94-DA51-465C-963F-A75BA182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Java 基础与分层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ED7C11-5D89-4AAA-8853-B7F9C2D1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27F597-B842-4DBC-9EAE-A82C4BDF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5BD8A3-93F5-42B5-87F3-5D761BB0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先把 Java 写起来，再理解后端项目为什么要分层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9B7223-2C59-49BB-B5AB-35C4058E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31432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5F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E92E4D-55B4-4CAB-9E42-FBC58AAB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76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CDE160-5306-4675-A48E-031E20F2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98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第 1 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D0A656-A4CA-4D6F-903F-6EDD586D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431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Java 语法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1FAE95-F331-4E04-9CC9-5A7EC63E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037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变量、类型、流程控制、方法、数组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C29F16-4555-45E0-942D-CF99397C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81200"/>
            <a:ext cx="31432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938861-7761-4878-B7E7-838399C0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81200"/>
            <a:ext cx="76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2507E3-73AC-42A3-B87F-0363FDF8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098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第 2 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C297C4-0BBD-4530-828D-D2316F91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431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面向对象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622306-8C90-47CA-B894-ACF3E04C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0037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类、对象、继承、接口、异常、集合、Maven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9985AF-D18F-4A69-A726-191E8FEF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81200"/>
            <a:ext cx="31432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364E9B-3FAB-4D8A-8506-6C8C14F1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81200"/>
            <a:ext cx="76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83E6F3-AA76-425E-92AD-BC3A715B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098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09A3E"/>
                </a:solidFill>
                <a:latin typeface="Arial"/>
                <a:ea typeface="Arial"/>
                <a:cs typeface="Arial"/>
              </a:rPr>
              <a:t>第 3 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3764BD-97C2-4BE2-B189-260113A6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431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控制台 Todo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68A196-3526-4BF8-B7FA-B918E549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037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把概念组合成可运行的小项目，再引入分层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DCB522-7412-45BE-B169-AB7DAC54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前端知识可以直接迁移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D41A9E-2EA1-4CDF-B215-0A768942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JavaScript 函数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E9486A-623C-4DF2-AEE9-EED7FC99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629150"/>
            <a:ext cx="552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46318E-FCBC-40B2-977F-84EEBF20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591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Java 方法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34831C-8437-4A81-BCFF-C35188C8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5910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npm / package.json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F88D01-C567-4DAD-9C4D-3D3C5CF2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29150"/>
            <a:ext cx="552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EBB6B8-539F-43EC-865F-F7BAF666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591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Maven / pom.xml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77C648-A2A1-41DB-9EBA-618D5577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模块边界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C68892-3F07-446F-BE1C-6F6D1E75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5143500"/>
            <a:ext cx="552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546CFB-B5CC-4446-BB18-CC2ABFCF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105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package 分层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0ED647-E936-4E8D-9282-47826934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51054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Promise 异步错误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31DFE5-C603-4A17-BBB7-AA2B4CA7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143500"/>
            <a:ext cx="552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52279A-A400-43DA-A67C-5F08619A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105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异常与 try/catch</a:t>
            </a:r>
          </a:p>
        </p:txBody>
      </p:sp>
    </p:spTree>
    <p:extLst>
      <p:ext uri="{BB962C8B-B14F-4D97-AF65-F5344CB8AC3E}">
        <p14:creationId xmlns:p14="http://schemas.microsoft.com/office/powerpoint/2010/main" val="4585290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89E391-A4B2-4AAB-BCEC-C24941E2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2｜第 4–8 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41F09D-45B3-4FA5-B94B-9D1CE9AF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Spring Boot 与认证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39C05E-D334-47B2-B01F-A750E3F4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B51D4D-C9B4-406E-ACF0-48FFA368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FFF67C-5C27-4E1E-BD33-37369B7F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从请求进入应用，到数据返回前端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F5C70F-B242-4670-A6B2-AD470653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6954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A89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9A9264-0CA1-45A9-8EC9-E2FC6D33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HTTP / 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701F60-4C47-4407-90EC-B965D71B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98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请求入口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0B5B5A-A156-4734-8910-FBF821A8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0030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BE5570-7151-429E-A29F-AC76D91A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95500"/>
            <a:ext cx="16954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F7C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D0FD1B-7A83-4CED-AB16-ED453245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66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Controller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49490F-BF02-4640-ACC4-A69FE3E2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098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参数与响应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DBCCC9-11D0-4184-A4CE-17F34E94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0030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0E026B-2E9C-4F5C-BD50-6728DFB4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95500"/>
            <a:ext cx="16954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9A3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F5AF34-CA6C-4DAA-817A-EFAFC19E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66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Service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4C7477-7ACD-44A6-9CF5-5A43F4FF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098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业务规则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9290D3-0D1F-4E24-9778-5ECD5D03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0030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293852-7112-4C42-A3B7-33E4FBCA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16954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464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0BC2A6-6B23-4095-954D-EC56CD3E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66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JPA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D30340-7585-4957-819E-F93834E0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6098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数据访问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DD0562-C8A5-4122-9F9C-4A1E207C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0030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AB99C0-E70E-47F9-B822-BD83A61E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95500"/>
            <a:ext cx="16954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686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076247-D264-4DFD-B075-4102399A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66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32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H2 / PostgreSQL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0F82EB-63EC-410D-8966-4B0B38AF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098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持久化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DA4F02-31ED-4A5C-BF57-56EB57A2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这一阶段新增的能力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C4A64A-CD42-4F95-AA4E-58D1397C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619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10000"/>
              </a:lnSpc>
              <a:spcAft>
                <a:spcPts val="800"/>
              </a:spcAft>
              <a:buNone/>
              <a:defRPr sz="142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E2D38"/>
                </a:solidFill>
                <a:latin typeface="Arial"/>
                <a:ea typeface="Arial"/>
                <a:cs typeface="Arial"/>
              </a:rPr>
              <a:t>第 4 周：启动 Spring Boot REST API</a:t>
            </a:r>
          </a:p>
          <a:p xmlns:a="http://schemas.openxmlformats.org/drawingml/2006/main">
            <a:pPr marL="228600" indent="-114300">
              <a:lnSpc>
                <a:spcPct val="110000"/>
              </a:lnSpc>
              <a:spcAft>
                <a:spcPts val="800"/>
              </a:spcAft>
              <a:buNone/>
              <a:defRPr sz="142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E2D38"/>
                </a:solidFill>
                <a:latin typeface="Arial"/>
                <a:ea typeface="Arial"/>
                <a:cs typeface="Arial"/>
              </a:rPr>
              <a:t>第 5–6 周：JPA、数据库、Profile、Flyway 和 DTO</a:t>
            </a:r>
          </a:p>
          <a:p xmlns:a="http://schemas.openxmlformats.org/drawingml/2006/main">
            <a:pPr marL="228600" indent="-114300">
              <a:lnSpc>
                <a:spcPct val="110000"/>
              </a:lnSpc>
              <a:spcAft>
                <a:spcPts val="800"/>
              </a:spcAft>
              <a:buNone/>
              <a:defRPr sz="142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E2D38"/>
                </a:solidFill>
                <a:latin typeface="Arial"/>
                <a:ea typeface="Arial"/>
                <a:cs typeface="Arial"/>
              </a:rPr>
              <a:t>第 7 周：分页、排序、参数校验</a:t>
            </a:r>
          </a:p>
          <a:p xmlns:a="http://schemas.openxmlformats.org/drawingml/2006/main">
            <a:pPr marL="228600" indent="-114300">
              <a:lnSpc>
                <a:spcPct val="110000"/>
              </a:lnSpc>
              <a:spcAft>
                <a:spcPts val="800"/>
              </a:spcAft>
              <a:buNone/>
              <a:defRPr sz="142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E2D38"/>
                </a:solidFill>
                <a:latin typeface="Arial"/>
                <a:ea typeface="Arial"/>
                <a:cs typeface="Arial"/>
              </a:rPr>
              <a:t>第 8 周：注册、登录、JWT 和用户数据隔离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C9342F-5913-4182-AD73-DBB88D35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19500"/>
            <a:ext cx="3314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8D4ACA-7C22-4FE1-B438-B78FD207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05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阶段结果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211215-247F-4DA4-BB77-5C536BB6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86250"/>
            <a:ext cx="2686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8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你可以独立写出一个带登录、校验、分页和数据库访问的 Todo API。</a:t>
            </a:r>
          </a:p>
        </p:txBody>
      </p:sp>
    </p:spTree>
    <p:extLst>
      <p:ext uri="{BB962C8B-B14F-4D97-AF65-F5344CB8AC3E}">
        <p14:creationId xmlns:p14="http://schemas.microsoft.com/office/powerpoint/2010/main" val="5988580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CED0AA-56DB-4CA4-929E-1E70EEA3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3｜第 9–13 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5DA087-53F4-4606-9054-3C704F76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工程基础与数据一致性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9A5835-4A03-489B-AB40-344D8DB1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10DD56-9416-4CA9-80F9-4F402BDD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5EAFA-E6DA-4730-820C-5EB2F85C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项目开始从“能跑”进入“可维护、可排查、可验证”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3F0996-CB22-4A54-AEF8-B9E6593F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2762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A89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59B7E1-00F2-4E76-93DA-7F99C9F1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FC1A8F-A1EC-445E-9B91-BD8CBF31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接口契约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35F5B9-D6B7-4EDE-BE5B-C14FF6EE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955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OpenAPI、统一响应、错误码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75B58A-38E9-4500-A3F5-D0D49BA2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7525"/>
            <a:ext cx="2762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9A3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E28760-4476-4B2A-8843-BF00EE72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7525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9383AD-B67B-4A44-8032-5A5F3992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9087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数据状态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A8FCA4-396C-4FFD-ADDC-54AC1B1D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95675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软删除、恢复、生命周期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F39F05-3FF8-471B-AB5A-25020538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2762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464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6EC20C-7376-4945-9BF2-3A392884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64D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989E62-A851-48B0-82ED-C3C0B01B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一致性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785866-5DC0-43EC-B0F0-1ECA8BA1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958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事务、操作日志、测试保护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A644F8-CF8B-4CCB-B0C9-6C4F4CA0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62150"/>
            <a:ext cx="0" cy="2914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ECE088-60B8-460F-BF78-2A5726F9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383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一个请求如何保证可追踪？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4FE6AA-8C87-4B6B-8C0C-4399BBF8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71750"/>
            <a:ext cx="1600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0E8085-B886-4F25-9880-CC90CB2E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657475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Request 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91E087-B4AD-46F0-8892-702C6817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5747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3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把一次请求串起来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03D848-E488-4D92-872A-4392DB51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24200"/>
            <a:ext cx="1600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215427-98A9-4DD0-B1A0-98A28E04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09925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9049C4-9DD7-4A61-ABA3-14D21730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0992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3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尽早拒绝错误输入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512150-B0EE-422B-B929-4A5C7978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76650"/>
            <a:ext cx="1600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0DC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6A0700-0C53-491A-8C54-F610E4C1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62375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09A3E"/>
                </a:solidFill>
                <a:latin typeface="Arial"/>
                <a:ea typeface="Arial"/>
                <a:cs typeface="Arial"/>
              </a:rPr>
              <a:t>Transaction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999745-95E6-4873-B65F-5FB5DD6E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6237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3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一起成功，一起回滚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E2590F-214D-4746-B434-06C5EB7D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229100"/>
            <a:ext cx="1600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EE9FC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EA258D-06A1-4695-BDA7-DD187278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314825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8464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464D8"/>
                </a:solidFill>
                <a:latin typeface="Arial"/>
                <a:ea typeface="Arial"/>
                <a:cs typeface="Arial"/>
              </a:rPr>
              <a:t>Action Log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4E01F3-5814-4144-AFAB-5AE34F98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1482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3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留下业务动作记录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497292-CDDD-43EC-A757-45F8C657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054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4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判断标准：出现问题时，你能否定位到哪一层、哪一个请求、哪一次数据变化？</a:t>
            </a:r>
          </a:p>
        </p:txBody>
      </p:sp>
    </p:spTree>
    <p:extLst>
      <p:ext uri="{BB962C8B-B14F-4D97-AF65-F5344CB8AC3E}">
        <p14:creationId xmlns:p14="http://schemas.microsoft.com/office/powerpoint/2010/main" val="13334566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CCF3B1-742E-4AFD-9900-D317D181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4｜第 14–19 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A8B85B-DF04-4156-8AC0-BB2AEF3D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性能、异步与可观测性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69F125-CACF-4F5C-BD56-F64C9762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FF79C-5B22-47F6-9E56-67187236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3B97AB-0B78-4F95-9148-A4F08EC3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把附属工作从主请求中解耦，同时知道系统正在发生什么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7F324-6040-43E8-8261-83ACCDC8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主请求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7C3BD6-F88F-4F89-81E2-48F1A7B9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5811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725F49-A3AB-48D5-8E9F-FEEDFAE7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保存 Todo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400FBC-C5A5-498F-831F-BEDC4984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28900"/>
            <a:ext cx="4762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E81842-CF66-437A-AC1E-1186B579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57450"/>
            <a:ext cx="15811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E908E5-8110-4B20-8E99-E47B3D51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0985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事务提交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2A3FC3-C5E7-4F93-B8C1-F9222742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628900"/>
            <a:ext cx="4762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27DAA5-18CB-44E7-A237-7F8FC18E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57450"/>
            <a:ext cx="15811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0D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9CB0BD-6BFE-408E-84BC-4AFAA0C9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60985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09A3E"/>
                </a:solidFill>
                <a:latin typeface="Arial"/>
                <a:ea typeface="Arial"/>
                <a:cs typeface="Arial"/>
              </a:rPr>
              <a:t>发布事件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7F7C6F-5022-4A81-8049-D5E120F9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后台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87C92D-2CAF-490A-A60B-D15D2618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71800"/>
            <a:ext cx="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1B0B61-6B26-49CE-8F06-59BFA479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076700"/>
            <a:ext cx="15811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EE9F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A8056D-E4D4-4A50-9872-062EB18F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22910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8464D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464D8"/>
                </a:solidFill>
                <a:latin typeface="Arial"/>
                <a:ea typeface="Arial"/>
                <a:cs typeface="Arial"/>
              </a:rPr>
              <a:t>记录日志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FC4767-020A-4908-95AE-57AA2707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用户不必等待操作日志、统计或通知全部完成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666F7B-6D3F-4239-BE4D-053F7593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62150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23CFED-E502-4C4D-92DB-744BD663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57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第 14–19 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CA8512-6302-45D9-9F88-2D1306B9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14600"/>
            <a:ext cx="3143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10000"/>
              </a:lnSpc>
              <a:spcAft>
                <a:spcPts val="900"/>
              </a:spcAft>
              <a:buNone/>
              <a:defRPr sz="135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E2D38"/>
                </a:solidFill>
                <a:latin typeface="Arial"/>
                <a:ea typeface="Arial"/>
                <a:cs typeface="Arial"/>
              </a:rPr>
              <a:t>缓存与查询优化：减少重复工作</a:t>
            </a:r>
          </a:p>
          <a:p xmlns:a="http://schemas.openxmlformats.org/drawingml/2006/main">
            <a:pPr marL="228600" indent="-114300">
              <a:lnSpc>
                <a:spcPct val="110000"/>
              </a:lnSpc>
              <a:spcAft>
                <a:spcPts val="900"/>
              </a:spcAft>
              <a:buNone/>
              <a:defRPr sz="135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E2D38"/>
                </a:solidFill>
                <a:latin typeface="Arial"/>
                <a:ea typeface="Arial"/>
                <a:cs typeface="Arial"/>
              </a:rPr>
              <a:t>Redis：把状态放到应用之外</a:t>
            </a:r>
          </a:p>
          <a:p xmlns:a="http://schemas.openxmlformats.org/drawingml/2006/main">
            <a:pPr marL="228600" indent="-114300">
              <a:lnSpc>
                <a:spcPct val="110000"/>
              </a:lnSpc>
              <a:spcAft>
                <a:spcPts val="900"/>
              </a:spcAft>
              <a:buNone/>
              <a:defRPr sz="135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E2D38"/>
                </a:solidFill>
                <a:latin typeface="Arial"/>
                <a:ea typeface="Arial"/>
                <a:cs typeface="Arial"/>
              </a:rPr>
              <a:t>Spring Event 与线程池：异步解耦</a:t>
            </a:r>
          </a:p>
          <a:p xmlns:a="http://schemas.openxmlformats.org/drawingml/2006/main">
            <a:pPr marL="228600" indent="-114300">
              <a:lnSpc>
                <a:spcPct val="110000"/>
              </a:lnSpc>
              <a:spcAft>
                <a:spcPts val="900"/>
              </a:spcAft>
              <a:buNone/>
              <a:defRPr sz="135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E2D38"/>
                </a:solidFill>
                <a:latin typeface="Arial"/>
                <a:ea typeface="Arial"/>
                <a:cs typeface="Arial"/>
              </a:rPr>
              <a:t>定时任务与批处理：后台执行</a:t>
            </a:r>
          </a:p>
          <a:p xmlns:a="http://schemas.openxmlformats.org/drawingml/2006/main">
            <a:pPr marL="228600" indent="-114300">
              <a:lnSpc>
                <a:spcPct val="110000"/>
              </a:lnSpc>
              <a:spcAft>
                <a:spcPts val="900"/>
              </a:spcAft>
              <a:buNone/>
              <a:defRPr sz="135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E2D38"/>
                </a:solidFill>
                <a:latin typeface="Arial"/>
                <a:ea typeface="Arial"/>
                <a:cs typeface="Arial"/>
              </a:rPr>
              <a:t>Actuator 与 Profile：看见并控制运行状态</a:t>
            </a:r>
          </a:p>
        </p:txBody>
      </p:sp>
    </p:spTree>
    <p:extLst>
      <p:ext uri="{BB962C8B-B14F-4D97-AF65-F5344CB8AC3E}">
        <p14:creationId xmlns:p14="http://schemas.microsoft.com/office/powerpoint/2010/main" val="4289354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F90E49-0069-4D40-BDC1-D9ABFCFF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5｜第 20–23 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B1A45-0658-46CB-A5EC-A21CBE77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真实业务边界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0D78EE-346B-45B1-B5BA-18CA25E3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163D1-0C43-450B-A0C4-0436A9CE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83B9DF-AD64-4388-BDA7-F7C74FFC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真实项目的难点在边界：谁能访问、数据放哪、失败怎么办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7787F7-AF96-4FB7-950D-0BDEE528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470332-7453-4ECB-9F49-87527825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C4A3DB-7359-4905-9FF1-F807A319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37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B614BA-35B5-443E-9575-B4261BA9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7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附件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1695FB-A42A-46D7-BF41-AC925BAD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05025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文件内容 + 数据库元数据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35929F-767B-47F2-9D9B-53098B20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05025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失败时清理残留文件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BEEB51-0056-4A98-8259-C840DA1D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116642-B33F-4578-A07D-359C698B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786687-89A3-450A-8BC7-F420EF68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37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8E8CE0-F0A0-4830-A8E6-A71955C5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956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7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RBAC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CCCB3E-34D8-4CD7-B61C-F79EB85A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886075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身份认证 + 角色权限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B6AEE8-CD1B-4096-89B0-4D3A25B7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86075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用户和管理员访问范围不同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68C51E-7681-4966-ACBA-D1439C17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003D0A-6B1F-4582-BD1F-1256F61B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478785-7D29-4453-84ED-8A99E0F6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37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E289EC-C5C8-40E2-9B52-7781E054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7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测试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18851E-3134-4CDA-AFC8-DB46A493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67125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Service 单元测试 + API 集成测试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479007-42A3-4ED6-B09F-D5FFA6EF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67125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重构前先锁定外部行为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02F463-B075-41AC-B885-0FFDA8BF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16C152-62DF-4712-B7E6-A0F99BE5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464D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FF1FC7-D855-49AE-9C31-BFF80BA6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37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F3F2EE-C5F9-4486-B21D-622D8FC6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577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7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数据库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01AC1E-FD92-40C9-A4D6-336C243B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448175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索引 + 分页 + 慢 SQL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95FFA3-65CB-42BA-9BAA-22D4F3C0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48175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从查询计划定位性能问题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899A49-7F4D-4873-A5F0-43A9E7CE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项目思维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7E65CD-07C2-4F11-82CA-CBA4FB63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3911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先问清楚边界，再决定代码放在哪里。</a:t>
            </a:r>
          </a:p>
        </p:txBody>
      </p:sp>
    </p:spTree>
    <p:extLst>
      <p:ext uri="{BB962C8B-B14F-4D97-AF65-F5344CB8AC3E}">
        <p14:creationId xmlns:p14="http://schemas.microsoft.com/office/powerpoint/2010/main" val="6426408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31BC7B-6F60-4653-B72C-BFBE061A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6｜第 24–27 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3DBC6-5DB5-4A32-99A3-6B1A66F4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生产工具与消息系统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1C5B85-EB42-45E9-B765-880BA7BF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62E42-04D6-485A-A8F3-D172E1A3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16CAE3-BAD1-46D5-9001-B29DB8AE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知道工具解决什么问题，比记住命令更重要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7459C8-C29B-4861-A40F-9E0BD335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2669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AA2DFB-5029-42E8-A504-341776C3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Docker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9D8179-7EBD-4E9F-B4AF-246CFB7C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统一运行环境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45621C-120B-41D8-A845-366295CE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8135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57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把 Java 应用和依赖打成可运行容器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6CBC93-2BFF-4C45-9DDD-8C26390D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76450"/>
            <a:ext cx="22669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5F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1CAFC6-158A-419F-A1C8-FE097783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C4D357-6127-4078-B672-8A55EB5B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8130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真实关系型数据库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E0DBF2-8C5C-4FE7-A114-05801DC1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8135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理解约束、索引、迁移和生产数据设计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DBD7DA-01BC-4B48-9EEC-8968384E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76450"/>
            <a:ext cx="22669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8E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630309-71DF-46F5-A39C-FCA0A3ED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431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Redis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9D5830-50EF-43C6-B62D-4F14E0E7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8130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D968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868"/>
                </a:solidFill>
                <a:latin typeface="Arial"/>
                <a:ea typeface="Arial"/>
                <a:cs typeface="Arial"/>
              </a:rPr>
              <a:t>共享状态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C1E2A2-4192-45C3-BF3A-7DCD5B19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8135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缓存、分布式锁、限流和幂等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44B4E9-F77B-46C1-8905-BCD38A52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76450"/>
            <a:ext cx="22669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6BD955-C477-4AB0-A9A7-843107D9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431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Kafka / RabbitMQ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8EC1DC-FB9D-4C14-A37C-5885FEB0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8130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09A3E"/>
                </a:solidFill>
                <a:latin typeface="Arial"/>
                <a:ea typeface="Arial"/>
                <a:cs typeface="Arial"/>
              </a:rPr>
              <a:t>消息系统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2E6187-2304-41AC-A0D5-32FDA511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8135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异步解耦、重试、ACK 和死信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AAA998-03A1-4B23-B2F8-1069009A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10572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D2B277-8CF7-4F03-AB38-9DECCBCE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2440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你的本地环境没有这些工具，也不影响学习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D03694-F57A-4441-B64C-274D93B4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默认：H2 + 内存实现。需要真实服务时，再通过 redis / kafka / rabbitmq profile 切换。</a:t>
            </a:r>
          </a:p>
        </p:txBody>
      </p:sp>
    </p:spTree>
    <p:extLst>
      <p:ext uri="{BB962C8B-B14F-4D97-AF65-F5344CB8AC3E}">
        <p14:creationId xmlns:p14="http://schemas.microsoft.com/office/powerpoint/2010/main" val="2035521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812F41-BF24-45B0-B156-B5242C7D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重点概念｜第 27 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F443B7-9811-4BC3-B10A-E009531C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Kafka 和 RabbitMQ 的核心区别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1F9F38-8EFD-4986-9996-B0FADA0A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4F68AE-C419-4EBD-9EB5-D08EA77C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7CBE29-D6B2-40F6-90E1-55CF92F9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记住两条主线：Kafka 管事件日志，RabbitMQ 管业务队列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68DF89-22F7-44FC-BA00-82C0E569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5048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B21C1F-7DDC-4F7C-BE2E-F4299BF7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43100"/>
            <a:ext cx="5048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8E521D-9B6D-4D66-B1AF-EFB000FA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3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Kafka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68E9E6-4086-4745-AA33-66F7C45D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0717C"/>
                </a:solidFill>
                <a:latin typeface="Arial"/>
                <a:ea typeface="Arial"/>
                <a:cs typeface="Arial"/>
              </a:rPr>
              <a:t>消息日志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EFFBC5-B187-41A3-A99B-48E63A1F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766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Producer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78DA48-743B-4C30-9902-F20502C0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305175"/>
            <a:ext cx="4381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83163E-356E-46B3-B057-0D32D767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766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Topic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35C307-C37E-4631-A0D1-DE8F8885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305175"/>
            <a:ext cx="4381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02853F-DC15-4873-AF8F-5BE1CA31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766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32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Consumer Group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1A118A-CC4C-429C-927B-CF853CD2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F7CFF"/>
                </a:solidFill>
                <a:latin typeface="Arial"/>
                <a:ea typeface="Arial"/>
                <a:cs typeface="Arial"/>
              </a:rPr>
              <a:t>Partition · Offset · 回放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D9D01B-6D88-4E97-8C75-0F4EB66E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09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3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09A3E"/>
                </a:solidFill>
                <a:latin typeface="Arial"/>
                <a:ea typeface="Arial"/>
                <a:cs typeface="Arial"/>
              </a:rPr>
              <a:t>RabbitMQ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B36D44-F1B2-4191-A4DC-BD158274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90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0717C"/>
                </a:solidFill>
                <a:latin typeface="Arial"/>
                <a:ea typeface="Arial"/>
                <a:cs typeface="Arial"/>
              </a:rPr>
              <a:t>业务队列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246EE4-BE1D-42A2-82A8-5E9EDBB5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766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Producer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65431C-9434-4EBE-91F5-DEE2195F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05175"/>
            <a:ext cx="3810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D38BD4-76CF-4E45-A887-243CDD24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766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Exchange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CCF701-9316-4808-8FFE-336B6606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305175"/>
            <a:ext cx="3810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94FFCE-00C4-4920-B73F-69940682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766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Queue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65A2C6-E37E-475E-B5D4-D5EC2FC0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147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09A3E"/>
                </a:solidFill>
                <a:latin typeface="Arial"/>
                <a:ea typeface="Arial"/>
                <a:cs typeface="Arial"/>
              </a:rPr>
              <a:t>Routing Key · ACK · DLQ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BEB2D1-DB6E-434A-84C7-339F25AE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0717C"/>
                </a:solidFill>
                <a:latin typeface="Arial"/>
                <a:ea typeface="Arial"/>
                <a:cs typeface="Arial"/>
              </a:rPr>
              <a:t>适合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C2BEEE-DB63-4368-8771-5355E536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6101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日志、埋点、数据流、历史回放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745AF9-D2D7-4C9D-BB83-A75B08AC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101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订单、任务、通知、业务路由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D68122-5B08-46F0-BBF3-8DD38CEE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0717C"/>
                </a:solidFill>
                <a:latin typeface="Arial"/>
                <a:ea typeface="Arial"/>
                <a:cs typeface="Arial"/>
              </a:rPr>
              <a:t>失败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51339F-ED5E-4A1E-A851-26E71D3F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673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Retry Topic / DLT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51B6A9-8AEA-4EC8-934B-DB11806B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673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Retry / DLX / DLQ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5739F7-C1CB-4C5F-9DCC-9428D80B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0717C"/>
                </a:solidFill>
                <a:latin typeface="Arial"/>
                <a:ea typeface="Arial"/>
                <a:cs typeface="Arial"/>
              </a:rPr>
              <a:t>项目里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1D2241-1F11-4E52-8D6A-5FAD3C6E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5245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可切换的 Kafka Producer / Consumer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CEA915-1110-4547-B18A-9C1513D0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245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可切换的 Rabbit Producer / Consumer</a:t>
            </a:r>
          </a:p>
        </p:txBody>
      </p:sp>
    </p:spTree>
    <p:extLst>
      <p:ext uri="{BB962C8B-B14F-4D97-AF65-F5344CB8AC3E}">
        <p14:creationId xmlns:p14="http://schemas.microsoft.com/office/powerpoint/2010/main" val="15584683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1826319-684B-476D-A94B-8238A6DF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7｜第 28 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DA5377-6301-475B-8F11-2BE903B8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综合复盘与重构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F4F12B-B70F-49D3-8FDA-8240317A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A9450E-6510-40A1-9CA0-5FC1BC94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8D644D-F535-4938-A578-AB5CDEC9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保持接口行为不变，改善代码结构、测试和排错能力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82928D-37EB-47CB-96E0-EFDCE893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32A19-06AD-4A88-B04E-6BAB6DC5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7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02CC1A-1BE0-44F0-B453-D4B2585D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240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画架构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46EF32-80B5-4EAB-90F6-720E642C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9240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跟踪一次请求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F4022E-6BA0-4990-B487-F533836A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200275"/>
            <a:ext cx="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D3DD2B-ACDD-45A7-9E3F-4CCFEAB5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17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DF5F26-0254-476B-8320-0D402FC7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7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85E428-8348-42CD-95F9-B1FB81AC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812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拆职责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A4AB2D-15C4-4440-A039-DE3C57FE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812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Controller / Parser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0B44F3-2860-484A-9BE6-F87567BC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657475"/>
            <a:ext cx="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5C8B3C-A5D7-4C6E-B5BF-391E19EE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F96CEB-CC76-4636-A419-08FA4FAF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7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13F92C-933F-4C52-A9B3-94F6F513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384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看边界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F6CF6E-9565-49A0-83C1-A4397277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384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DTO / Entity / Mapper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63348D-5CC9-4C12-A0E3-4C10C535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114675"/>
            <a:ext cx="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2924A9-66C7-45F6-868F-BF53BB78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86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B51BAA-1529-4984-9F70-96BC38E9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7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6315AE-962E-481E-816C-2FBF6A8A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95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查一致性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725EE3-696E-4135-8849-0B0E3731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95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数据库 / 文件系统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456636-3FEA-42F2-9A31-F545ACAC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571875"/>
            <a:ext cx="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4F0ABA-6BA6-4A84-9843-75B50589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464D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2FEC57-A0C3-421B-86AB-2355D785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7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E7CDEA-30C3-490D-A313-BDA19E23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528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串能力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8A4EC8-0F67-41A3-A86C-8452281C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528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Redis / 消息 / 事务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715DB2-83EB-4289-8EAC-3118B819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029075"/>
            <a:ext cx="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11638C-6843-4DBC-9190-2815D0B1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005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0BE5A9-59C9-4C56-B5C2-DDC9E6FD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7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AE3C8C-8494-47EC-B00D-1870172A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100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跑验证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B1EFBA-6715-4986-A88C-C0FFD6DC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100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测试 / 构建 / Actuator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3741BE-9607-4D93-AF8B-44F5E807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486275"/>
            <a:ext cx="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638B15-5533-467F-939C-17623425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577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72FAA3-C426-4840-8477-06121DA2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7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8349CD-A8B3-47A3-8E42-8C3C3719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672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做复盘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880F31-3ECA-4EE2-8CDF-97B27B72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672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完整业务流程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E703B7-3559-40ED-8ADD-50FCAB7D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85950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BB2C78-3DF7-4189-B7E7-86D0C183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重构规则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C618F18-6DD9-4E83-909C-F564D560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57450"/>
            <a:ext cx="4095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10000"/>
              </a:lnSpc>
              <a:spcAft>
                <a:spcPts val="900"/>
              </a:spcAft>
              <a:buNone/>
              <a:defRPr sz="135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E2D38"/>
                </a:solidFill>
                <a:latin typeface="Arial"/>
                <a:ea typeface="Arial"/>
                <a:cs typeface="Arial"/>
              </a:rPr>
              <a:t>一次只改一个问题，改完立即跑测试</a:t>
            </a:r>
          </a:p>
          <a:p xmlns:a="http://schemas.openxmlformats.org/drawingml/2006/main">
            <a:pPr marL="228600" indent="-114300">
              <a:lnSpc>
                <a:spcPct val="110000"/>
              </a:lnSpc>
              <a:spcAft>
                <a:spcPts val="900"/>
              </a:spcAft>
              <a:buNone/>
              <a:defRPr sz="135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E2D38"/>
                </a:solidFill>
                <a:latin typeface="Arial"/>
                <a:ea typeface="Arial"/>
                <a:cs typeface="Arial"/>
              </a:rPr>
              <a:t>外部行为优先：路径、参数、响应和错误码不变</a:t>
            </a:r>
          </a:p>
          <a:p xmlns:a="http://schemas.openxmlformats.org/drawingml/2006/main">
            <a:pPr marL="228600" indent="-114300">
              <a:lnSpc>
                <a:spcPct val="110000"/>
              </a:lnSpc>
              <a:spcAft>
                <a:spcPts val="900"/>
              </a:spcAft>
              <a:buNone/>
              <a:defRPr sz="135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E2D38"/>
                </a:solidFill>
                <a:latin typeface="Arial"/>
                <a:ea typeface="Arial"/>
                <a:cs typeface="Arial"/>
              </a:rPr>
              <a:t>异常对外安全，对内可排查</a:t>
            </a:r>
          </a:p>
          <a:p xmlns:a="http://schemas.openxmlformats.org/drawingml/2006/main">
            <a:pPr marL="228600" indent="-114300">
              <a:lnSpc>
                <a:spcPct val="110000"/>
              </a:lnSpc>
              <a:spcAft>
                <a:spcPts val="900"/>
              </a:spcAft>
              <a:buNone/>
              <a:defRPr sz="135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E2D38"/>
                </a:solidFill>
                <a:latin typeface="Arial"/>
                <a:ea typeface="Arial"/>
                <a:cs typeface="Arial"/>
              </a:rPr>
              <a:t>跨数据库和文件系统时设计补偿动作</a:t>
            </a:r>
          </a:p>
          <a:p xmlns:a="http://schemas.openxmlformats.org/drawingml/2006/main">
            <a:pPr marL="228600" indent="-114300">
              <a:lnSpc>
                <a:spcPct val="110000"/>
              </a:lnSpc>
              <a:spcAft>
                <a:spcPts val="900"/>
              </a:spcAft>
              <a:buNone/>
              <a:defRPr sz="135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E2D38"/>
                </a:solidFill>
                <a:latin typeface="Arial"/>
                <a:ea typeface="Arial"/>
                <a:cs typeface="Arial"/>
              </a:rPr>
              <a:t>生产限制要说清楚：当前没有 Outbox 和真实 Broker 集成测试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674F907-7B7C-4484-A6DD-3D7B18A9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10150"/>
            <a:ext cx="4095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75C1F4-1BE9-49E3-A925-201276FB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153025"/>
            <a:ext cx="3638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89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重构的终点：更容易理解和维护</a:t>
            </a:r>
          </a:p>
        </p:txBody>
      </p:sp>
    </p:spTree>
    <p:extLst>
      <p:ext uri="{BB962C8B-B14F-4D97-AF65-F5344CB8AC3E}">
        <p14:creationId xmlns:p14="http://schemas.microsoft.com/office/powerpoint/2010/main" val="12408448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46E587B-4FE6-4C48-B175-526B2165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最终能力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71A20A-5CE5-414E-9EF3-00EBB5B3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学完之后，你能独立完成什么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54D20-8B51-43EB-B65B-C4210359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8296E4-EB6E-4C22-8BBA-C1F9C51E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30E383-F9BC-4032-AE8F-CB69B815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从写接口，走到理解一个后端系统如何运行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64F74F-F0A0-4C2B-A4C9-70A6689D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0480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5F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FFA014-B0F8-4D78-9ABD-0041BCE9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431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3FEF80-E0D5-4791-8E88-AD3B6E4F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7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构建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8B2DD2-5814-4653-8D47-D35101B5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86BF99-5D75-43AF-93F7-20368170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908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REST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45FC55-B0DC-4227-A199-E6F4CF4C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886695-A5AA-428C-9949-A2D9D983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766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数据库和迁移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130A72-E57A-4BD8-A95A-D9E64BF2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60618F-80EC-4882-8300-697529B6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62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JWT / RBAC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EDF740-A47E-4361-999F-8616645C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9B0304-0DA0-4FD6-BD40-6E401D99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481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文件和消息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42CB60-7E57-41CB-9012-95708B68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95500"/>
            <a:ext cx="30480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5DFFCF-D552-4DA5-8A60-F178D63B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431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Diagnose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5DB104-A106-4659-A71B-0B9049D3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479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7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排查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EAF37B-199C-4916-B276-744CE32C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57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24916D-A0F7-4DFE-8045-E3D1CFD4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908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统一错误响应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450D87-1618-4F6F-A1D7-529A6CA6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43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6E9C63-FC80-4DB2-92C6-40D2F359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766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日志和 requestId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12A5DA-8BA2-4F3E-8BBF-8B132EB2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29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E630A8-C4E8-48BC-BB5F-CAD89662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62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Actuator 健康状态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C955C7-8B2F-43C3-8317-10A9D7F1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14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9B1D92-1368-4AD7-98D2-7088852D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481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SQL 和慢查询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23C6F4-4F78-4835-A3DB-DB6122C8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30480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C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525609-76A3-4838-9398-EB7D311E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431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8464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464D8"/>
                </a:solidFill>
                <a:latin typeface="Arial"/>
                <a:ea typeface="Arial"/>
                <a:cs typeface="Arial"/>
              </a:rPr>
              <a:t>Improve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096587-0965-4CB5-9BED-8C17E96E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479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7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改进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639949-C1AE-4968-9A86-A28438DF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57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464D8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1CF5F2-9999-4C83-AC54-7B78E270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908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缓存和 Redis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8F00F9-BF77-4E58-89B3-41F2CB2E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43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464D8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59E7F0-B8F5-4019-8D71-000C37D3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766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限流和幂等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AFCB9F-E1A5-4B1F-809A-FAEF1E94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29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464D8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94E6CC-CB23-4E49-B06F-6A719310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62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重试和死信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93B68F-8611-4B2E-A499-6440ED9B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14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464D8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30FE1D-86E8-4EC8-81CC-B25493F8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481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测试和重构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DDD2BA-1FA3-4852-BCD5-9AEC0D4C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下一步建议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FB17E3-C360-4599-B2ED-C6E27F5B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1816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Outbox 可靠消息 → 真实 Broker 集成测试 → CI/CD → 云部署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FEA956-607C-436B-95E8-BA0584B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学习重点始终回到一个问题：我能否解释代码为什么这样设计？</a:t>
            </a:r>
          </a:p>
        </p:txBody>
      </p:sp>
    </p:spTree>
    <p:extLst>
      <p:ext uri="{BB962C8B-B14F-4D97-AF65-F5344CB8AC3E}">
        <p14:creationId xmlns:p14="http://schemas.microsoft.com/office/powerpoint/2010/main" val="17107033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2026-09-15T02:13:58.5470000Z</dcterms:created>
  <dcterms:modified xsi:type="dcterms:W3CDTF">2026-09-15T02:13:58.5470000Z</dcterms:modified>
</coreProperties>
</file>