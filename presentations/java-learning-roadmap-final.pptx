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e01908650a49d4" /><Relationship Type="http://schemas.openxmlformats.org/officeDocument/2006/relationships/extended-properties" Target="/docProps/app.xml" Id="R743136352e6e48eb" /><Relationship Type="http://schemas.openxmlformats.org/officeDocument/2006/relationships/officeDocument" Target="/ppt/presentation.xml" Id="R891a3750ff8c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113f520e54c22"/>
  </p:sldMasterIdLst>
  <p:notesMasterIdLst>
    <p:notesMasterId xmlns:r="http://schemas.openxmlformats.org/officeDocument/2006/relationships" r:id="R6426fa1d33fa4e74"/>
  </p:notesMasterIdLst>
  <p:sldIdLst>
    <p:sldId xmlns:r="http://schemas.openxmlformats.org/officeDocument/2006/relationships" id="256" r:id="R7e005a1e4fac43ab"/>
    <p:sldId xmlns:r="http://schemas.openxmlformats.org/officeDocument/2006/relationships" id="257" r:id="R1611b3aae2e34846"/>
    <p:sldId xmlns:r="http://schemas.openxmlformats.org/officeDocument/2006/relationships" id="258" r:id="R0b267e8a6d7949aa"/>
    <p:sldId xmlns:r="http://schemas.openxmlformats.org/officeDocument/2006/relationships" id="259" r:id="R5917be3fb7114432"/>
    <p:sldId xmlns:r="http://schemas.openxmlformats.org/officeDocument/2006/relationships" id="260" r:id="Re77b338484364d5c"/>
    <p:sldId xmlns:r="http://schemas.openxmlformats.org/officeDocument/2006/relationships" id="261" r:id="R66191222dd83480e"/>
    <p:sldId xmlns:r="http://schemas.openxmlformats.org/officeDocument/2006/relationships" id="262" r:id="R34f858bae28d417f"/>
    <p:sldId xmlns:r="http://schemas.openxmlformats.org/officeDocument/2006/relationships" id="263" r:id="R016860533e0e4188"/>
    <p:sldId xmlns:r="http://schemas.openxmlformats.org/officeDocument/2006/relationships" id="264" r:id="R7c2d5d4300414b83"/>
    <p:sldId xmlns:r="http://schemas.openxmlformats.org/officeDocument/2006/relationships" id="265" r:id="R934535bdb45e4e5c"/>
    <p:sldId xmlns:r="http://schemas.openxmlformats.org/officeDocument/2006/relationships" id="266" r:id="R56f04c7d26e74b14"/>
    <p:sldId xmlns:r="http://schemas.openxmlformats.org/officeDocument/2006/relationships" id="267" r:id="R6592cf4db3a84140"/>
    <p:sldId xmlns:r="http://schemas.openxmlformats.org/officeDocument/2006/relationships" id="268" r:id="Rc4c96a9c7ae34a0b"/>
    <p:sldId xmlns:r="http://schemas.openxmlformats.org/officeDocument/2006/relationships" id="269" r:id="R08b2341b88be4ee3"/>
    <p:sldId xmlns:r="http://schemas.openxmlformats.org/officeDocument/2006/relationships" id="270" r:id="Rcae10647b2524845"/>
    <p:sldId xmlns:r="http://schemas.openxmlformats.org/officeDocument/2006/relationships" id="271" r:id="R70ffa0e13cd3407d"/>
    <p:sldId xmlns:r="http://schemas.openxmlformats.org/officeDocument/2006/relationships" id="272" r:id="Rbcc95ffb374d4fdd"/>
    <p:sldId xmlns:r="http://schemas.openxmlformats.org/officeDocument/2006/relationships" id="273" r:id="R142615ab487d4dd5"/>
    <p:sldId xmlns:r="http://schemas.openxmlformats.org/officeDocument/2006/relationships" id="274" r:id="R00563a6ebd504afc"/>
    <p:sldId xmlns:r="http://schemas.openxmlformats.org/officeDocument/2006/relationships" id="275" r:id="R83972b884a7b4d9a"/>
    <p:sldId xmlns:r="http://schemas.openxmlformats.org/officeDocument/2006/relationships" id="276" r:id="R273551b4ed044cf9"/>
    <p:sldId xmlns:r="http://schemas.openxmlformats.org/officeDocument/2006/relationships" id="277" r:id="Rb45ce7ea5d0c4f72"/>
    <p:sldId xmlns:r="http://schemas.openxmlformats.org/officeDocument/2006/relationships" id="278" r:id="R619839d2fcf3475d"/>
    <p:sldId xmlns:r="http://schemas.openxmlformats.org/officeDocument/2006/relationships" id="279" r:id="R18f41b99d7744fc6"/>
    <p:sldId xmlns:r="http://schemas.openxmlformats.org/officeDocument/2006/relationships" id="280" r:id="R4194e08ea43a42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7621dc7104afa" /><Relationship Type="http://schemas.openxmlformats.org/officeDocument/2006/relationships/slideMaster" Target="/ppt/slideMasters/slideMaster1.xml" Id="Rcdf113f520e54c22" /><Relationship Type="http://schemas.openxmlformats.org/officeDocument/2006/relationships/notesMaster" Target="/ppt/notesMasters/notesMaster1.xml" Id="R6426fa1d33fa4e74" /><Relationship Type="http://schemas.openxmlformats.org/officeDocument/2006/relationships/presProps" Target="/ppt/presProps.xml" Id="R0b0fb3ad3bd24325" /><Relationship Type="http://schemas.openxmlformats.org/officeDocument/2006/relationships/tableStyles" Target="/ppt/tableStyles.xml" Id="R4f0058691ae34ffe" /><Relationship Type="http://schemas.openxmlformats.org/officeDocument/2006/relationships/slide" Target="/ppt/slides/slide1.xml" Id="R7e005a1e4fac43ab" /><Relationship Type="http://schemas.openxmlformats.org/officeDocument/2006/relationships/slide" Target="/ppt/slides/slide2.xml" Id="R1611b3aae2e34846" /><Relationship Type="http://schemas.openxmlformats.org/officeDocument/2006/relationships/slide" Target="/ppt/slides/slide3.xml" Id="R0b267e8a6d7949aa" /><Relationship Type="http://schemas.openxmlformats.org/officeDocument/2006/relationships/slide" Target="/ppt/slides/slide4.xml" Id="R5917be3fb7114432" /><Relationship Type="http://schemas.openxmlformats.org/officeDocument/2006/relationships/slide" Target="/ppt/slides/slide5.xml" Id="Re77b338484364d5c" /><Relationship Type="http://schemas.openxmlformats.org/officeDocument/2006/relationships/slide" Target="/ppt/slides/slide6.xml" Id="R66191222dd83480e" /><Relationship Type="http://schemas.openxmlformats.org/officeDocument/2006/relationships/slide" Target="/ppt/slides/slide7.xml" Id="R34f858bae28d417f" /><Relationship Type="http://schemas.openxmlformats.org/officeDocument/2006/relationships/slide" Target="/ppt/slides/slide8.xml" Id="R016860533e0e4188" /><Relationship Type="http://schemas.openxmlformats.org/officeDocument/2006/relationships/slide" Target="/ppt/slides/slide9.xml" Id="R7c2d5d4300414b83" /><Relationship Type="http://schemas.openxmlformats.org/officeDocument/2006/relationships/slide" Target="/ppt/slides/slide10.xml" Id="R934535bdb45e4e5c" /><Relationship Type="http://schemas.openxmlformats.org/officeDocument/2006/relationships/slide" Target="/ppt/slides/slide11.xml" Id="R56f04c7d26e74b14" /><Relationship Type="http://schemas.openxmlformats.org/officeDocument/2006/relationships/slide" Target="/ppt/slides/slide12.xml" Id="R6592cf4db3a84140" /><Relationship Type="http://schemas.openxmlformats.org/officeDocument/2006/relationships/slide" Target="/ppt/slides/slide13.xml" Id="Rc4c96a9c7ae34a0b" /><Relationship Type="http://schemas.openxmlformats.org/officeDocument/2006/relationships/slide" Target="/ppt/slides/slide14.xml" Id="R08b2341b88be4ee3" /><Relationship Type="http://schemas.openxmlformats.org/officeDocument/2006/relationships/slide" Target="/ppt/slides/slide15.xml" Id="Rcae10647b2524845" /><Relationship Type="http://schemas.openxmlformats.org/officeDocument/2006/relationships/slide" Target="/ppt/slides/slide16.xml" Id="R70ffa0e13cd3407d" /><Relationship Type="http://schemas.openxmlformats.org/officeDocument/2006/relationships/slide" Target="/ppt/slides/slide17.xml" Id="Rbcc95ffb374d4fdd" /><Relationship Type="http://schemas.openxmlformats.org/officeDocument/2006/relationships/slide" Target="/ppt/slides/slide18.xml" Id="R142615ab487d4dd5" /><Relationship Type="http://schemas.openxmlformats.org/officeDocument/2006/relationships/slide" Target="/ppt/slides/slide19.xml" Id="R00563a6ebd504afc" /><Relationship Type="http://schemas.openxmlformats.org/officeDocument/2006/relationships/slide" Target="/ppt/slides/slide20.xml" Id="R83972b884a7b4d9a" /><Relationship Type="http://schemas.openxmlformats.org/officeDocument/2006/relationships/slide" Target="/ppt/slides/slide21.xml" Id="R273551b4ed044cf9" /><Relationship Type="http://schemas.openxmlformats.org/officeDocument/2006/relationships/slide" Target="/ppt/slides/slide22.xml" Id="Rb45ce7ea5d0c4f72" /><Relationship Type="http://schemas.openxmlformats.org/officeDocument/2006/relationships/slide" Target="/ppt/slides/slide23.xml" Id="R619839d2fcf3475d" /><Relationship Type="http://schemas.openxmlformats.org/officeDocument/2006/relationships/slide" Target="/ppt/slides/slide24.xml" Id="R18f41b99d7744fc6" /><Relationship Type="http://schemas.openxmlformats.org/officeDocument/2006/relationships/slide" Target="/ppt/slides/slide25.xml" Id="R4194e08ea43a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0999c7546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daa85ffc4f4e4c" /><Relationship Type="http://schemas.openxmlformats.org/officeDocument/2006/relationships/notesMaster" Target="/ppt/notesMasters/notesMaster1.xml" Id="Rb0971a22d3434b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b1913da3a74b5d" /><Relationship Type="http://schemas.openxmlformats.org/officeDocument/2006/relationships/notesMaster" Target="/ppt/notesMasters/notesMaster1.xml" Id="Rdf76072d744849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d291ce9e5e4ff4" /><Relationship Type="http://schemas.openxmlformats.org/officeDocument/2006/relationships/notesMaster" Target="/ppt/notesMasters/notesMaster1.xml" Id="R33755e324ea7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880d2c19194a53" /><Relationship Type="http://schemas.openxmlformats.org/officeDocument/2006/relationships/notesMaster" Target="/ppt/notesMasters/notesMaster1.xml" Id="R7a4292dc5f5d40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2d6ec14ad4df0" /><Relationship Type="http://schemas.openxmlformats.org/officeDocument/2006/relationships/notesMaster" Target="/ppt/notesMasters/notesMaster1.xml" Id="Rcc6c1d43de1d49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71b3a5b6964c6b" /><Relationship Type="http://schemas.openxmlformats.org/officeDocument/2006/relationships/notesMaster" Target="/ppt/notesMasters/notesMaster1.xml" Id="R8cef5ddf1cdf45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ddc21abba4fb0" /><Relationship Type="http://schemas.openxmlformats.org/officeDocument/2006/relationships/notesMaster" Target="/ppt/notesMasters/notesMaster1.xml" Id="R6ff1baa9f9af46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5231bf51034e31" /><Relationship Type="http://schemas.openxmlformats.org/officeDocument/2006/relationships/notesMaster" Target="/ppt/notesMasters/notesMaster1.xml" Id="R9e6767fb524c47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0a7587242e4c99" /><Relationship Type="http://schemas.openxmlformats.org/officeDocument/2006/relationships/notesMaster" Target="/ppt/notesMasters/notesMaster1.xml" Id="Rbd15257789a442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28eb16a07f4c65" /><Relationship Type="http://schemas.openxmlformats.org/officeDocument/2006/relationships/notesMaster" Target="/ppt/notesMasters/notesMaster1.xml" Id="Rd454baf5108141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d85e7107734314" /><Relationship Type="http://schemas.openxmlformats.org/officeDocument/2006/relationships/notesMaster" Target="/ppt/notesMasters/notesMaster1.xml" Id="Rbe87d47d69024a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6df79c787247a1" /><Relationship Type="http://schemas.openxmlformats.org/officeDocument/2006/relationships/notesMaster" Target="/ppt/notesMasters/notesMaster1.xml" Id="Ra99adbca634b4f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288a1f3dad441f" /><Relationship Type="http://schemas.openxmlformats.org/officeDocument/2006/relationships/notesMaster" Target="/ppt/notesMasters/notesMaster1.xml" Id="R30827cde5f6d44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93dc21a2d942ec" /><Relationship Type="http://schemas.openxmlformats.org/officeDocument/2006/relationships/notesMaster" Target="/ppt/notesMasters/notesMaster1.xml" Id="R64c5a1b14ae446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10a4dff30b4d90" /><Relationship Type="http://schemas.openxmlformats.org/officeDocument/2006/relationships/notesMaster" Target="/ppt/notesMasters/notesMaster1.xml" Id="R97746701729b49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2b4b48277f4cc2" /><Relationship Type="http://schemas.openxmlformats.org/officeDocument/2006/relationships/notesMaster" Target="/ppt/notesMasters/notesMaster1.xml" Id="Rde6d7aeea9bc46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fdc3baef4149a8" /><Relationship Type="http://schemas.openxmlformats.org/officeDocument/2006/relationships/notesMaster" Target="/ppt/notesMasters/notesMaster1.xml" Id="R73258dd6393347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5bfd47a80e498f" /><Relationship Type="http://schemas.openxmlformats.org/officeDocument/2006/relationships/notesMaster" Target="/ppt/notesMasters/notesMaster1.xml" Id="Rf50e92a10c4b4aa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c97217d6334007" /><Relationship Type="http://schemas.openxmlformats.org/officeDocument/2006/relationships/notesMaster" Target="/ppt/notesMasters/notesMaster1.xml" Id="R6cb313df1921407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36ac04900e476e" /><Relationship Type="http://schemas.openxmlformats.org/officeDocument/2006/relationships/notesMaster" Target="/ppt/notesMasters/notesMaster1.xml" Id="R9c7c3522463d4e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48f81860e847ed" /><Relationship Type="http://schemas.openxmlformats.org/officeDocument/2006/relationships/notesMaster" Target="/ppt/notesMasters/notesMaster1.xml" Id="R62a35aee05b84f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749fca1b1d7485d" /><Relationship Type="http://schemas.openxmlformats.org/officeDocument/2006/relationships/notesMaster" Target="/ppt/notesMasters/notesMaster1.xml" Id="R3c9efdb6e47449a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7a3866c437420f" /><Relationship Type="http://schemas.openxmlformats.org/officeDocument/2006/relationships/notesMaster" Target="/ppt/notesMasters/notesMaster1.xml" Id="R5fd0c73268b941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63f0d5b586046b5" /><Relationship Type="http://schemas.openxmlformats.org/officeDocument/2006/relationships/notesMaster" Target="/ppt/notesMasters/notesMaster1.xml" Id="Rcd36f256dacd4b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82a38c26b949eb" /><Relationship Type="http://schemas.openxmlformats.org/officeDocument/2006/relationships/notesMaster" Target="/ppt/notesMasters/notesMaster1.xml" Id="R43bbe5f0e90e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每日使用方法：先在 docs 中找到对应周的学习文档，确定当天唯一目标；再沿请求链阅读代码；完成小改动后运行指定测试或接口；最后记录现象、原因和未解决问题。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 PPT 是个人技术教材，不是概览。建议每次只看 1 到 2 页，然后立刻打开对应的 Java 文件、配置文件或测试文件验证。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学习时不要一次打开整个项目。先确定一个问题，再使用 IDE 的跳转功能沿着调用链阅读。个人学习最重要的是形成排错习惯。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这是项目的阅读地图。遇到一个接口时，先从 Controller 开始；遇到数据问题时，继续看 Entity、Repository 和 Flyway migration；遇到权限问题时，看 Filter 和 SecurityConfig。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Maven 不只是下载依赖，它还统一了编译、测试和打包入口。每次改代码至少跑相关测试，阶段结束再跑完整 mvn 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1–3 周的重点是把面向对象写成业务代码。不要只背 class、interface 的定义，要观察它们如何帮助后续替换 Repository、隔离 Service 和编写测试。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 Controller 时逐个标注注解的作用。前端开发者可以把它理解为路由处理器，但后端 Controller 还要明确认证主体、校验和响应状态码。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用户之前问过 findByCompleted、findByTitleContaining 等方法。这里要建立规则：Spring Data 根据方法名生成查询，但复杂查询要看实际 SQL，不能只凭方法名猜性能。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校验的价值是尽早失败。Entity 和 DTO 分离的价值是控制契约：数据库怎么变化，不应该自动决定前端看见什么。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当前项目使用 OncePerRequestFilter。Filter 验证 Token 后把认证对象放进 SecurityContext，后面的 Controller 才能拿到当前用户。401 是未认证，403 是已认证但无权限。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配置学习要看三件事：哪个 profile 生效、连接了什么、谁负责建表。Flyway 的价值是把数据库结构变更变成可追踪的代码，而不是让 Hibernate 在启动时猜。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统一响应让前端不用为每个接口猜格式。全局异常处理的边界是：对外安全、稳定；对内保留 requestId 和堆栈，方便定位。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事务的核心是原子性：数据库内的一组变化要么一起提交，要么一起回滚。不要误以为 @Transactional 能解决数据库和文件、数据库和消息之间的所有一致性问题。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学习缓存时先追踪一个 key。当前 key 是 userId:id，体现了数据隔离。更新方法上的 CacheEvict 很关键，否则缓存会比数据库旧。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TTL 是数据自动过期时间。幂等要在数据库事务提交后再标记完成，避免事务回滚但 Redis 已经说成功。Redis profile 未启用时，内存实现帮助理解流程；多实例才需要共享 Redis。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当前项目通过 afterCommit 让外部事件只在主事务成功后发布。异步不是把方法加个注解就结束，还要考虑线程池耗尽、异常丢失、重试和可观察性。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定时任务需要时区和 cron 配置，不能把时间写死。批处理要分批，任务结果要可观察。Actuator 端点是排查服务状态的入口，不是业务接口。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附件是一个很好的工程化案例：数据库事务不能回滚文件系统，所以要设计补偿。真实生产环境通常会使用对象存储，但学习阶段先理解边界和失败处理。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RBAC 不是只有 hasRole。角色判断解决功能入口，userId 过滤解决资源归属。测试必须覆盖未登录、普通用户、管理员、别人资源四类情况。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 测试关注业务，不需要启动真实数据库；API 测试关注外部契约。两者组合起来，既能快速反馈业务错误，也能保护前端真正依赖的 HTTP 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JPA 当成性能黑盒。方法名生成的 SQL 仍要经过数据库执行计划。优化必须有前后对比，至少记录数据量、参数、耗时和执行计划。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容器是运行环境打包工具，不会自动让代码正确。当前默认 H2 的设计是为了先学习 Java 和 Spring，等需要验证 PostgreSQL 方言、索引和连接池时再切换。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Kafka Consumer 使用 RetryableTopic，失败抛异常才会触发重试。Kafka 消息可能重复投递，handler 必须根据 messageId 做幂等；DLT 是失败消息的最后落点，不是自动修复。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RabbitMQ 的关键不是只记 Exchange 和 Queue，而是理解 ACK 和重试的时间点。当前配置让失败消息在重试耗尽后进入死信链路；消费者要能安全处理重复消息。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周要把知识串起来。建议选择创建 Todo 这个请求作为主线，逐层讲解；再故意制造校验失败、权限失败、数据库失败和消息失败，观察系统如何响应。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f88f8d43f4c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c76ff87874716" /><Relationship Type="http://schemas.openxmlformats.org/officeDocument/2006/relationships/slideLayout" Target="/ppt/slideLayouts/slideLayout1.xml" Id="Rd018283dc60142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8283dc60142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312d4b52743bb" /><Relationship Type="http://schemas.openxmlformats.org/officeDocument/2006/relationships/notesSlide" Target="/ppt/notesSlides/notesSlide1.xml" Id="R596846180b9c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0a7a7ed2d463d" /><Relationship Type="http://schemas.openxmlformats.org/officeDocument/2006/relationships/notesSlide" Target="/ppt/notesSlides/notesSlide2.xml" Id="Rb6718a3b5647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8a0d5878f4f3c" /><Relationship Type="http://schemas.openxmlformats.org/officeDocument/2006/relationships/notesSlide" Target="/ppt/notesSlides/notesSlide3.xml" Id="R842015541f874a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0a253c41c4354" /><Relationship Type="http://schemas.openxmlformats.org/officeDocument/2006/relationships/notesSlide" Target="/ppt/notesSlides/notesSlide4.xml" Id="R1f84d1c26c9341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2a3ece343487c" /><Relationship Type="http://schemas.openxmlformats.org/officeDocument/2006/relationships/notesSlide" Target="/ppt/notesSlides/notesSlide5.xml" Id="Rf385209cb2dd42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d70a0ebc040a9" /><Relationship Type="http://schemas.openxmlformats.org/officeDocument/2006/relationships/notesSlide" Target="/ppt/notesSlides/notesSlide6.xml" Id="R3c4bd8a90f9e46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c575eace241fa" /><Relationship Type="http://schemas.openxmlformats.org/officeDocument/2006/relationships/notesSlide" Target="/ppt/notesSlides/notesSlide7.xml" Id="Rdf15f1b3e04e42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374743c074244" /><Relationship Type="http://schemas.openxmlformats.org/officeDocument/2006/relationships/notesSlide" Target="/ppt/notesSlides/notesSlide8.xml" Id="Ra5d6be22655545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e2717a1da44f1" /><Relationship Type="http://schemas.openxmlformats.org/officeDocument/2006/relationships/notesSlide" Target="/ppt/notesSlides/notesSlide9.xml" Id="Ra118281d2a1240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b34bbe33349cc" /><Relationship Type="http://schemas.openxmlformats.org/officeDocument/2006/relationships/notesSlide" Target="/ppt/notesSlides/notesSlide10.xml" Id="R4ba6cb15a52646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9dc263eff4921" /><Relationship Type="http://schemas.openxmlformats.org/officeDocument/2006/relationships/notesSlide" Target="/ppt/notesSlides/notesSlide11.xml" Id="Rb68572655b7842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80c308427424c" /><Relationship Type="http://schemas.openxmlformats.org/officeDocument/2006/relationships/notesSlide" Target="/ppt/notesSlides/notesSlide12.xml" Id="R9b2f884ecc6d48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46b431c8d4a35" /><Relationship Type="http://schemas.openxmlformats.org/officeDocument/2006/relationships/notesSlide" Target="/ppt/notesSlides/notesSlide13.xml" Id="Rd3043eebe65a4e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8576422e641d2" /><Relationship Type="http://schemas.openxmlformats.org/officeDocument/2006/relationships/notesSlide" Target="/ppt/notesSlides/notesSlide14.xml" Id="R7f208540a5d64c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d6c7f31ba4742" /><Relationship Type="http://schemas.openxmlformats.org/officeDocument/2006/relationships/notesSlide" Target="/ppt/notesSlides/notesSlide15.xml" Id="Re8130f35ddcf4e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0969c2c2747db" /><Relationship Type="http://schemas.openxmlformats.org/officeDocument/2006/relationships/notesSlide" Target="/ppt/notesSlides/notesSlide16.xml" Id="R523522e11cb347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dbbb5304e4860" /><Relationship Type="http://schemas.openxmlformats.org/officeDocument/2006/relationships/notesSlide" Target="/ppt/notesSlides/notesSlide17.xml" Id="R33352f56fd294a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1896ce2cc49cc" /><Relationship Type="http://schemas.openxmlformats.org/officeDocument/2006/relationships/notesSlide" Target="/ppt/notesSlides/notesSlide18.xml" Id="Ra86f3ea1029d43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c46bff4274681" /><Relationship Type="http://schemas.openxmlformats.org/officeDocument/2006/relationships/notesSlide" Target="/ppt/notesSlides/notesSlide19.xml" Id="Ree4924c0145c41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b9d4f47b94e61" /><Relationship Type="http://schemas.openxmlformats.org/officeDocument/2006/relationships/notesSlide" Target="/ppt/notesSlides/notesSlide20.xml" Id="R7b31cd36ccad42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b59fb007940b4" /><Relationship Type="http://schemas.openxmlformats.org/officeDocument/2006/relationships/notesSlide" Target="/ppt/notesSlides/notesSlide21.xml" Id="R24ef514f5d3b4e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d072000624e9f" /><Relationship Type="http://schemas.openxmlformats.org/officeDocument/2006/relationships/notesSlide" Target="/ppt/notesSlides/notesSlide22.xml" Id="R1ee60df31ae747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3a08fe1c94dcf" /><Relationship Type="http://schemas.openxmlformats.org/officeDocument/2006/relationships/notesSlide" Target="/ppt/notesSlides/notesSlide23.xml" Id="R5dfa3736ae7d40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23d3c25d74ada" /><Relationship Type="http://schemas.openxmlformats.org/officeDocument/2006/relationships/notesSlide" Target="/ppt/notesSlides/notesSlide24.xml" Id="Ra955f46fd3314b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f0ea934e84679" /><Relationship Type="http://schemas.openxmlformats.org/officeDocument/2006/relationships/notesSlide" Target="/ppt/notesSlides/notesSlide25.xml" Id="Rd2e7f858537f4b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608C4A-5E43-4D94-ABB0-5479771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EDD92-B86D-401F-AB50-13F87079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JAVA-TODO-API · 每日学习首页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245C7-6E24-46BF-BBAC-1BF1F6A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每天的学习内容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0040D-64FA-404D-8171-A6B3DD4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5DB"/>
                </a:solidFill>
                <a:latin typeface="Arial"/>
                <a:ea typeface="Arial"/>
                <a:cs typeface="Arial"/>
              </a:rPr>
              <a:t>每天 2 小时，只完成一个可以运行、可以测试、可以解释的技术目标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8A152-368C-4D53-AF56-6F26EF9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开始前确认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30E86-85AB-4808-8FA0-67A41C3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5726C-6111-4F84-B897-E7B582FA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今日主题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58967-F11D-4885-A53E-D3924154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今天只学一个概念，例如事务、JWT、Redis 或消息队列。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27620-D1DE-4345-AEB8-76C49A68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BCE06-A714-4B99-87CC-3C44F5A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E0E18-CB5F-4174-88A8-B4DE49BA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阅读文件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5DD96-E004-4E42-B50D-2CFCC33F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先打开 docs/week-XX-learning.md，再沿 Controller、Service、Repository 阅读。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B7EF0-C2FE-4A71-85F4-7AB62AB8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55AAA-071A-4025-9F55-C7C10270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39881-C226-4E17-9649-21B4935D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动手任务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62B82-B49A-4610-AC66-835F81AF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95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只改一个小目标，例如新增查询条件、补充校验或写一条测试。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ECD7B-B924-4534-9865-B0AF1F57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8DE09-D9D0-42C2-B3E0-D543A96D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FBB47-C930-47DF-BCCB-2F09C6A5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验收结果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E4035-0B74-4219-811C-F3F5F4C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863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运行相关测试和接口，记录成功结果、失败现象与原因。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4C2D7-788C-4AF6-B4DC-C100FF9F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2A24C-780D-43C0-A8F9-5EAD45E3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小时安排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6D66E-DA28-43A5-AAA6-5835C71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435D6-6E56-43A2-B04E-254F554F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BB0B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BB0BA"/>
                </a:solidFill>
                <a:latin typeface="Arial"/>
                <a:ea typeface="Arial"/>
                <a:cs typeface="Arial"/>
              </a:rPr>
              <a:t>分钟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46184-AA64-4F2A-8F00-E594333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阅读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DE7CC-2EAC-4E8C-8385-E92F8AB8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956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明确入口、输入、输出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2CDAB-74E5-4D44-99F0-E96BE0C8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B938D-7A95-4DEA-815E-23CA079A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814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BB0B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BB0BA"/>
                </a:solidFill>
                <a:latin typeface="Arial"/>
                <a:ea typeface="Arial"/>
                <a:cs typeface="Arial"/>
              </a:rPr>
              <a:t>分钟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8B099-9B7F-4803-B75F-F7ED24D4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43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编码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8125F-CFBF-4DAB-8741-28301BF6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623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完成一个小改动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1A84BD-8F4D-4F4C-A373-C92B305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AE1658-645D-4128-A1A9-0A5EE633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48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BB0B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BB0BA"/>
                </a:solidFill>
                <a:latin typeface="Arial"/>
                <a:ea typeface="Arial"/>
                <a:cs typeface="Arial"/>
              </a:rPr>
              <a:t>分钟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7664C-0077-4028-AF66-63487BB5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100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ED1673-ABAF-48EA-9291-CFACF772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2910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运行测试或调用接口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CF8E2-2A47-45A1-BACF-CC808C6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F36AA2-CEC7-4394-ACBB-B1774CF4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14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9BB0B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BB0BA"/>
                </a:solidFill>
                <a:latin typeface="Arial"/>
                <a:ea typeface="Arial"/>
                <a:cs typeface="Arial"/>
              </a:rPr>
              <a:t>分钟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97E43D-EFA7-492F-A34D-AA94C0AB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768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复盘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1E903A-565C-469A-B017-5CC34926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95850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D5E1E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5E1E6"/>
                </a:solidFill>
                <a:latin typeface="Arial"/>
                <a:ea typeface="Arial"/>
                <a:cs typeface="Arial"/>
              </a:rPr>
              <a:t>写下原因和遗留问题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24832F-E2A9-479D-AC9E-4677AFF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7061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47AA01-64B6-47CD-9110-EDE17222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7217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今天结束前：保留一处代码修改、一条通过的测试和一段能说明“为什么”的复盘</a:t>
            </a:r>
          </a:p>
        </p:txBody>
      </p:sp>
    </p:spTree>
    <p:extLst>
      <p:ext uri="{BB962C8B-B14F-4D97-AF65-F5344CB8AC3E}">
        <p14:creationId xmlns:p14="http://schemas.microsoft.com/office/powerpoint/2010/main" val="1953901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67986-8F57-45B1-A230-1B28B537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65E5E-0AA0-4ECE-BD20-BA8416BD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java-todo-api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技术细节学习路线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C25DE-36F3-45C2-841F-04CEA5F6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7D5D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5DB"/>
                </a:solidFill>
                <a:latin typeface="Arial"/>
                <a:ea typeface="Arial"/>
                <a:cs typeface="Arial"/>
              </a:rPr>
              <a:t>个人使用版 · Java 21 · Spring Boot 3 · JPA · JWT · Redis · Kafka · RabbitMQ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3D5C0-DDC0-4B91-AB15-618F7421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目标：不只知道“是什么”，还能从代码、配置、请求和故障中解释“为什么”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0EC13-E51F-486D-AD6D-E1D57102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B0B73-B2F8-41C6-8554-ED1F15C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52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代码路径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A861B-AADC-4A27-A917-D734CE0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知道去哪个文件看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595E-A43A-4F60-A8C3-BA73F33E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F1431-CC0C-4FA8-8A55-8E25E937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运行命令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39126-C0E8-4111-A8A3-88EFDCB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98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知道如何启动和验证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BF097-5612-4207-93A7-6DBE43E5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9EC42-E903-412E-ADEC-9E424C7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设计取舍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353D4-50ED-440F-8C56-6CB4E1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知道何时使用、何时不用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64408-68FB-4FFC-B049-93C765AD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2571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544C9-3761-4EFD-99F3-69500FFF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失败处理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2C769-D323-49BA-8CBA-A1EAB61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910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知道异常、重试和补偿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2B001-2883-457A-A954-79870FF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EA4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4AE"/>
                </a:solidFill>
                <a:latin typeface="Arial"/>
                <a:ea typeface="Arial"/>
                <a:cs typeface="Arial"/>
              </a:rPr>
              <a:t>建议：打开 PPT 的同时打开项目源码，边读边运行</a:t>
            </a:r>
          </a:p>
        </p:txBody>
      </p:sp>
    </p:spTree>
    <p:extLst>
      <p:ext uri="{BB962C8B-B14F-4D97-AF65-F5344CB8AC3E}">
        <p14:creationId xmlns:p14="http://schemas.microsoft.com/office/powerpoint/2010/main" val="463205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CC85D-362F-4EF4-90C7-BD4BCE89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学习方法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40DBF-A13E-44F3-9738-6915E840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如何使用这份技术版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F20DF-0B8B-406A-9EC7-DF14A36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3D86F-0850-418B-B5AD-0BCDA352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D8E3-CA77-4CCD-BF50-D5299650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每个知识点都按“概念 → 项目代码 → 运行验证 → 失败复盘”学习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40276-10AE-43E9-BB05-40DC0C14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2DF4E-93DA-4C52-AA5C-2F4C302D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17988-0C02-4F00-85F5-4023DA4E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E3E26-431E-4280-A0F8-0759F62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先问问题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24358-B16A-4F79-B312-0542BEA9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例如：为什么 Controller 不能直接操作 Repository？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ED4B2-F19D-46D8-BB65-0FF9777D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B9AA9-E8E9-4387-9AC4-A74D0B45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64FC4-5A30-4A07-9EB6-66ED0A0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5F607-55E6-45D0-B0D6-18782F77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8C877-6BB3-4AA0-A39D-47394797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定位文件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F1900-A263-42EE-9B35-06E673A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从 controller → service → repository 跟一条请求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1544E-DA41-430F-A6F2-494FC09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10424-A5A7-41ED-8DB3-09018BB9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DF6B4-3CBE-4249-8433-B73714E7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16C5B-7467-4776-8ED2-B504D72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ABD11-D9FF-44E7-A373-D82C791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做最小实验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E0CBF-EEB5-4B31-99EC-159FDE66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改一个参数、加一条日志、跑一条测试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15343-4CF9-4280-8A2A-BFBDF18D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23636-B7FD-4A9D-807C-3E4D7702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190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5693F-56E7-4585-8A95-242ECCF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65A59-5D72-45A2-8E01-3B49DD03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022E9-2773-41C3-A817-E2A22A34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记录结论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AA9062-9640-495B-8004-018415D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写清现象、原因、修改和遗留风险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14F09E-D167-43F6-A2FB-38990518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每 2 小时建议这样分配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C0011-1AFE-4AFC-B91F-76C29FED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433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20 分钟：读本页技术点和当前项目代码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60 分钟：只实现一个小改动，例如新增一个查询条件或一条测试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25 分钟：运行 mvn test 或指定测试类，观察日志和异常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E2D38"/>
                </a:solidFill>
                <a:latin typeface="Arial"/>
                <a:ea typeface="Arial"/>
                <a:cs typeface="Arial"/>
              </a:rPr>
              <a:t>15 分钟：写 docs 复盘，记录“我现在能解释什么”</a:t>
            </a:r>
          </a:p>
        </p:txBody>
      </p:sp>
    </p:spTree>
    <p:extLst>
      <p:ext uri="{BB962C8B-B14F-4D97-AF65-F5344CB8AC3E}">
        <p14:creationId xmlns:p14="http://schemas.microsoft.com/office/powerpoint/2010/main" val="1823633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0DF59-E5D9-4740-B06B-1D4C76B6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项目导航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A9263-C72D-470D-A8DB-F1D9EA30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当前项目快照：你已经拥有的工程骨架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EE7AB-DD99-4A5F-9B13-2323EC9D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E3FB3-B096-4357-B3A1-2D5E2EDD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4AF61-D107-4EE2-9599-CB3126F7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先认识文件职责，后面每一周都在这棵树上增加能力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CF9DE-1488-4B16-893D-29EAFE4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38162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40128-4F2B-4BA0-A8AA-D1B28567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7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32776-5A94-4406-BE64-898B543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5076825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src/main/java/com/zading/todoapi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controller/       HTTP 路由、参数、状态码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service/          业务规则、事务边界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repository/       Spring Data JPA 查询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model/            Entity、枚举、领域数据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dto/              请求和响应模型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mapper/           Entity ↔ DTO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security/         JWT Filter、SecurityConfig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redis/            缓存保护、幂等、限流、锁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messaging/        内存、Kafka、RabbitMQ 适配器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├── event/            Spring 事件和异步处理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└── exception/        错误码、业务异常、全局处理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179C3-F67C-4B94-A5E6-DBBD16C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74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033FB-0311-45B6-9BE0-AD889319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5F44D-8918-49E4-A741-65120E4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默认可以运行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47A0F-294B-4F65-BB8E-E65B5525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2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application.properties 使用 H2 文件数据库、Simple Cache、内存消息发布器；不要求本机先安装 PostgreSQL、Redis、Kafka、RabbitMQ 或 Docker。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8B80C-F4A8-40CA-B580-424E1E29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743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9B0A8-30AE-44B2-959E-8EC3548E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40F93-7112-40A3-8447-A5DA11D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真实服务通过 Profile 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7B288-1891-4879-9B18-71CC4DE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1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application-postgres.properties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application-redis.properties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application-kafka.properties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application-rabbitmq.properties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56906-7D1A-4517-99D1-8FB0D1A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43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3CE14-A1C1-4F67-93ED-75DE37BA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1666D-9DFF-4220-8F5C-95B1AF5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阅读顺序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D3050-F63B-497D-B4D6-61B1F3EC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0540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1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先看 Controller 找入口，再看 Service 找规则，最后看 Repository 和 migration 找数据结构。</a:t>
            </a:r>
          </a:p>
        </p:txBody>
      </p:sp>
    </p:spTree>
    <p:extLst>
      <p:ext uri="{BB962C8B-B14F-4D97-AF65-F5344CB8AC3E}">
        <p14:creationId xmlns:p14="http://schemas.microsoft.com/office/powerpoint/2010/main" val="112554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49D9C-7791-427C-986E-51A542FB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0｜环境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7169D-5F98-432C-81A5-903E755E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JDK 21、Maven 与项目运行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F031B-7A31-4F71-9475-564BABD8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01CC4-A795-422E-9047-1F330078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833DF-F714-4EEF-9451-05D6293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先把“我能否编译、测试、启动”变成每天都能重复的动作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4F19F-F9ED-4B23-BAB7-C53521E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常用命令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C34BC-AE19-4D5A-9BD4-C9A7DB32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61E99-61E2-43FA-A558-B977143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924A8-F7BF-46EF-B4DC-C06ACA2C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4457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java -version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-version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test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-Dtest=TodoServiceTest test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spring-boot:run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mvn clean package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java -jar target/java-todo-api-1.0.0.jar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AC17F-A1C0-4411-9580-7767570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命令分别验证什么？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05E67-0AB8-40D8-A644-5169079B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java -version：确认 IDE 和终端使用的 JDK 版本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-version：确认 Maven 使用的是哪个 Java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test：验证所有单元测试和接口测试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spring-boot:run：直接启动开发应用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clean package：清理旧产物并生成可执行 JAR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3116F-8081-410B-88D3-621DB853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4B770-4ACC-43BE-AFED-ABB6351B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本项目的个人验收线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BD103-7C93-4502-AA31-F70329C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2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能启动；能注册/登录；能创建和查询 Todo；mvn test 通过；能解释失败日志。</a:t>
            </a:r>
          </a:p>
        </p:txBody>
      </p:sp>
    </p:spTree>
    <p:extLst>
      <p:ext uri="{BB962C8B-B14F-4D97-AF65-F5344CB8AC3E}">
        <p14:creationId xmlns:p14="http://schemas.microsoft.com/office/powerpoint/2010/main" val="1140194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428C6-FB79-46DF-9536-272311A4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1｜JAVA 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370BF-14D3-4C66-856A-B34F50F6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1–3 周：从对象到可测试的分层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FB334-9C1E-4ECB-BEBB-B99643D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D878A-92FA-4D19-A111-DAAC2C5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4A803-907F-4DB2-9756-281E769D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基础知识直接落到 Todo：数据是对象，行为进 Service，存储通过接口替换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22E75-DDAE-4DB3-9173-790A635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EF49A-FCD7-4276-B4C9-6194463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75B-D819-4B37-885D-D1D9FD3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529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class Todo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Long id;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String title;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boolean completed;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public void complete()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this.completed = true;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interface TodoRepository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save(Todo todo);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List&lt;Todo&gt; findAll();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FE552-0545-4EF6-846D-5498910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你要真正理解的点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27B5F-5C0C-40D1-9758-AB889E5D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private：调用方不能随意改字段，状态变化通过方法表达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complete()：把“完成”变成业务行为，而不是到处 setCompleted(true)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interface：Service 只依赖能力，不绑定内存或数据库实现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List&lt;Todo&gt;：泛型让集合元素类型在编译期可检查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异常：找不到任务、标题为空都要有明确失败路径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334FA-954C-4105-8422-37AE3793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667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44C63-E0D1-4872-AEC4-399F6DC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前端迁移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8AB1B-5F39-4C20-84AF-D421553B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530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函数 → 方法；模块 → package；npm → Maven；错误回调 → 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1C2BC-0279-472A-A5CA-9B0B2D76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0717C"/>
                </a:solidFill>
                <a:latin typeface="Arial"/>
                <a:ea typeface="Arial"/>
                <a:cs typeface="Arial"/>
              </a:rPr>
              <a:t>验收：能不看提示写出 Todo、接口、List 操作和一个自定义异常。</a:t>
            </a:r>
          </a:p>
        </p:txBody>
      </p:sp>
    </p:spTree>
    <p:extLst>
      <p:ext uri="{BB962C8B-B14F-4D97-AF65-F5344CB8AC3E}">
        <p14:creationId xmlns:p14="http://schemas.microsoft.com/office/powerpoint/2010/main" val="2114926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66E35-241A-4C19-B276-47F4D9E6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2｜WEB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1D869-2A6E-4A1C-9AAF-5FD6103F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Controller：HTTP 入口只做三件事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C2AC6-5D54-422D-A832-9A2DAF40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05BA6-910A-44B3-861E-D6880572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3A997-D833-4C34-B603-6BCC2DE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以当前 TodoController 为例：接收请求、调用 Service、组装响应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EE536-7E0B-45D4-A801-E71311A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A8633-D109-408A-AB9C-9F54FE91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6FF85-C01F-4370-B26F-19E77648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4102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@PostMapping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ResponseEntity&lt;ApiResponse&lt;TodoResponse&gt;&gt; createTodo(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@AuthenticationPrincipal AuthenticatedUser user,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@Valid @RequestBody CreateTodoRequest request,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@RequestHeader(name = "Idempotency-Key",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              required = false) String key)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todo = todoService.addTodo(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user.getId(), request.getTitle(),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request.getPriority(), request.getDueDate(), key);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ResponseEntity.created(location(todo))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.body(ApiResponse.created(todoMapper.toResponse(todo)));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73533-3DCF-4ED8-AD42-E3A0EB8E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逐行看责任边界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066C8-8A2F-4C2F-80F1-ECE0122A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@PostMapping：把 POST /api/todos 映射到方法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@AuthenticationPrincipal：从 SecurityContext 取当前用户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@Valid：先执行 DTO 上的 Bean Validation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@RequestBody：JSON 反序列化为 CreateTodoRequest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Service 接收业务参数，不接收 HttpServletRequest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Mapper 把 Entity 转成 TodoResponse，避免暴露数据库对象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BF137-DC90-45A7-95B8-A7722D3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4095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2BFFF-42B3-47B7-BC12-4BE0C10D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339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0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不要放在 Controller：事务、复杂权限、重复查询、数据库写入细节</a:t>
            </a:r>
          </a:p>
        </p:txBody>
      </p:sp>
    </p:spTree>
    <p:extLst>
      <p:ext uri="{BB962C8B-B14F-4D97-AF65-F5344CB8AC3E}">
        <p14:creationId xmlns:p14="http://schemas.microsoft.com/office/powerpoint/2010/main" val="340905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4B36E-69C9-41A2-A4A6-79CAC6FA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2｜数据访问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2F75E-84BE-4EE5-8DF2-EDF34F69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JPA：方法名如何变成查询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7AE03-16C4-4A18-B467-8DF3C430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F32B2-290E-44A4-99C2-6C3777C7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81EAC-0306-4644-9283-84726454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Repository 不是魔法：方法名中的 And、Containing、False 会参与生成查询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7706E-76D9-4EC4-A787-19F7B90B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82810-034F-49DF-904C-BFCA722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B243F-673C-412E-A07E-082BF765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838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Page&lt;Todo&gt; findByUserIdAndCompletedAndDeletedFalse(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Long userId,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boolean completed,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Pageable pageable);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Page&lt;Todo&gt; findByUserIdAndTitleContainingIgnoreCase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AndDeletedFalse(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Long userId, String keyword, Pageable pageable);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13F24-C742-4685-8063-F42CE4B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可以翻译成接近这样的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92F6-0642-4FB6-AF79-020E26A1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143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25949-634D-491D-9F5C-4A1F37D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233CC-2393-4EC2-B84F-C944DBD4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4838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0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select *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from todos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where user_id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completed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deleted =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order by id asc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limit ? offset ?;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46F8D-DCC5-4AF2-AE12-0357117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阅读和排错要点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31CC0-62A7-4F8A-A7B1-79EE17A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2685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Page&lt;Todo&gt;：结果不仅有 content，还有 totalElements、totalPages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Pageable：页码从 0 开始；size 要限制上限，避免一次返回太多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Containing：通常对应模糊匹配；数据量大时要关注索引利用率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DeletedFalse：软删除后的默认列表不会返回 deleted = true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userId 必须参与条件，防止用户读取别人的 Todo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1888F-603F-4536-A836-BA03B306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476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A4009-845E-43B6-ADA9-1000F40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练习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588D8-24A4-4E58-965D-F2297828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给 findBy... 方法写出等价 SQL，再用 SQL 日志确认 Hibernate 的实际查询。</a:t>
            </a:r>
          </a:p>
        </p:txBody>
      </p:sp>
    </p:spTree>
    <p:extLst>
      <p:ext uri="{BB962C8B-B14F-4D97-AF65-F5344CB8AC3E}">
        <p14:creationId xmlns:p14="http://schemas.microsoft.com/office/powerpoint/2010/main" val="1056855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5709E-77CC-405C-99AB-2EE5EA0F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2｜接口契约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89616-EEEC-4331-AE9F-9EB2C9C7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DTO 与校验：保护接口输入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83099-954F-4D38-8265-70906BB0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0AAAA-AC5E-4B27-8A00-1C877962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F8BDC-3969-4CD8-8F25-8A344066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DTO 是接口边界；Entity 是数据库模型，两者分开才能独立演进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C65B3-5B6E-409C-84EB-3306EA9D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5034-7D39-4A49-8CFC-41D374B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6E418-9407-454B-8010-F03B395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class CreateTodoRequest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@NotBlank(message = "title 不能为空")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@Size(max = 200, message = "title 不能超过 200 个字符")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String title;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TodoPriority priority;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private LocalDate dueDate;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D8654-445B-4ECD-AAB5-0A4811F7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请求 → 校验 → 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C21B6-2E5E-4C97-B405-077D5B2F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8D76E-A8EE-4B7F-A8CA-AC97DF87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1AD6D-B09A-4F01-A114-470D7FF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title = "  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2CE4C-62DF-4281-A96B-4267285A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0125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71FDB-2023-45EF-841C-0B7979BD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1310D-3CE9-495A-802E-85D58A7E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@Valid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DA34D-CE8D-4A26-83B4-578DADF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4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400 BAD_REQUEST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4FD1A-6CC2-49DC-B914-3D95F993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10125"/>
            <a:ext cx="1905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11608-361E-4D70-B526-CE1ACA05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1333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234A7-94B3-4C59-AA0D-3F2496A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B8E01-89C1-485D-9016-198BEEDE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53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只处理合法输入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DE938-8CB8-40D9-A06C-93A94FCE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个人练习顺序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9C3F5-F278-4999-9AB2-5A5DB4E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先发 title 缺失、空格、超长三种请求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观察 GlobalExceptionHandler 返回的错误码和 path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再给 UpdateTodoRequest 增加字段级规则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确保 Service 不依赖 HTTP 校验才能保证核心规则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34796-967F-45C9-AB22-3E43F672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476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FAEE7-45E5-491A-9101-D22B2DF2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为什么不能直接返回 Entity？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5C917F-C702-41F1-8CFA-BD5C301F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4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Entity 里可能有 user、deleted、内部版本号等字段。DTO 让响应只暴露前端需要的内容，也避免懒加载问题。</a:t>
            </a:r>
          </a:p>
        </p:txBody>
      </p:sp>
    </p:spTree>
    <p:extLst>
      <p:ext uri="{BB962C8B-B14F-4D97-AF65-F5344CB8AC3E}">
        <p14:creationId xmlns:p14="http://schemas.microsoft.com/office/powerpoint/2010/main" val="1707838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FEDA3D-06DB-4AAA-82F2-6E9047A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2｜认证授权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72675-001B-430C-9695-60F29A92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JWT 请求链路：401 和 403 到底区别是什么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EB857-646E-4FE8-99A2-3E43C8A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A4AD5-A969-4A15-B049-CB11523A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7D262-62F1-4680-973F-2A15666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JWT 解决“你是谁”；权限规则解决“你能做什么”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88231-73E5-4C91-BF8C-18C922A8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2DF67-FAEB-4E14-BD33-B8BDBB25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DFEDE-1A49-4786-B3D9-D06876A2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Bearer eyJ...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B85DE-CB67-4E0D-A47B-1A775112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57A44-F381-444F-BC23-2C59B549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23C14-7CB9-40A3-913F-258B26E9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JwtFilter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35FD2-F7A6-4C42-9825-B3687B2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解析、验签、过期检查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712B4-A7F8-44AE-A1AD-4759F8A2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6E850-EEFF-4F62-8358-F98F7420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36B2-44DF-4174-9980-D57BE1E3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SecurityContext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10F64-C953-430C-8F3E-A702AA5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放入 AuthenticatedUser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377BC-8543-4B23-9678-B7C52C68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22BF0-3ABE-4BB5-A86C-3023FE8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133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E5F32-35F1-4076-B7AA-0FC742E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98A15-CBDC-46BB-87CA-3DD9DF47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读取当前 userId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AA589-8526-46FD-BEB7-1E1F9E02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E59DF-0E23-4876-A8D3-EDAA204B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526B7-7D2E-4DE6-80D9-A06BEB16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029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if (!authHeader.startsWith("Bearer "))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filterChain.doFilter(request, response);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token = authHeader.substring(7);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username = jwtService.extractUsername(token);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if (jwtService.isTokenValid(token, username, user.getRole()))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SecurityContextHolder.getContext()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.setAuthentication(authentication);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D066D-8B20-48D5-A3A3-30B52D8F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状态码要记住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CB574-1780-41C8-9B58-A157E9D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26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E0386-BB63-464E-8F38-93A25DF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5C5D0-3BBE-4C53-B4DE-F35A66E1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401 Unauthorized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E225D-B59E-4379-8EFE-93ABAFF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388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没有 Token、Token 无效或已过期；先登录。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0933BE-8178-4F97-9802-D5C82BB0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26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2C8CE-91F9-4C5C-A870-1E9B191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728BC-10F2-41AB-946A-146FD463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5775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403 Forbidden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4FF4E2-F70E-4636-98D1-6544A8D6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9700"/>
            <a:ext cx="388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身份已识别，但角色不允许访问，例如 USER 访问 /api/admin。</a:t>
            </a:r>
          </a:p>
        </p:txBody>
      </p:sp>
    </p:spTree>
    <p:extLst>
      <p:ext uri="{BB962C8B-B14F-4D97-AF65-F5344CB8AC3E}">
        <p14:creationId xmlns:p14="http://schemas.microsoft.com/office/powerpoint/2010/main" val="365343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1014D-CA8C-4CE1-8331-C04FFB9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2｜工程配置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0206-466E-4FEA-8D8D-CEE517C7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Profile、H2 与 Flyway：配置和数据结构如何演进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34BD1-F87E-44E6-8F26-B02372E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1C7D0-3943-4D4A-8005-F3AEFC26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47E9F-F534-4A4E-87B0-73B83C90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默认运行不依赖外部数据库；切换真实数据库时，只替换配置和驱动连接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E923B-F54D-4010-BE64-5ABE0FC8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143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C4C38-2C49-41F4-A66E-05B19752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96741-D2CA-476C-A951-0FC36E8F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8387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application.properties（默认）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spring.datasource.url=jdbc:h2:file:./data/todo-db-v2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spring.jpa.hibernate.ddl-auto=validate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spring.flyway.enabled=true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真实 PostgreSQL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spring.profiles.active=postgres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spring.datasource.url=jdbc:postgresql://localhost:5432/todo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79786-65EB-4172-9C27-A0E7F8F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 ddl-auto=validate？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EA2C9-1CE8-4650-AD57-BAD7A5F1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JPA 只检查 Entity 和表是否匹配，不偷偷改表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所有结构变化写进 db/migration/Vx__*.sql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V1 到 V9 按版本顺序执行，适合团队协作和部署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90C99-3B60-476A-8AFD-12C7579E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当前迁移链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1F9B0-726B-4912-B29E-E769D383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7F834-CDC7-4622-B884-717978D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288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E01D5-32B2-49BF-AF5F-A1071B1C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0BFE8-C236-4D55-8E85-68E509EB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1410F-E4C0-410C-AD08-7EC40FAC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860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1781D-1500-4A07-8806-EF3535B0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priority / due_date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09258-3C0B-4A1D-8AC7-9C720B2C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842A1-CB14-42E5-85B2-2CA4B9C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3B218-E537-488F-BC0A-0D750BB4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users + user_id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3F280-255A-4136-8430-C1B2F467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9202D-5338-4BB0-B568-E47C952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004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AF9E8-244B-4D8D-BBF6-FF12C973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deleted / deleted_at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F0AF2-B8B5-410C-898A-4468F496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DD245-BB2C-4A07-B38A-397FC98C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576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F993B-5DC5-4F5E-AB10-76248DD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action_logs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B3546-0024-4694-872B-51BCF294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93EA9-8312-4F85-8574-38C9728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1487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V6–V9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8AC48-6AF1-4DAC-9DA7-9049E41B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attachments / role / indexes / constraints</a:t>
            </a:r>
          </a:p>
        </p:txBody>
      </p:sp>
    </p:spTree>
    <p:extLst>
      <p:ext uri="{BB962C8B-B14F-4D97-AF65-F5344CB8AC3E}">
        <p14:creationId xmlns:p14="http://schemas.microsoft.com/office/powerpoint/2010/main" val="1216976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825F3-705A-45B9-966A-79850F35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3｜工程基础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B0907-53D9-47A3-A2A1-7512DED7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统一响应与全局异常：让前端稳定处理失败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8AAF4-4DBE-4A50-9EDE-5DF19FA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DAEF5-B807-4F03-8AE4-D3F1134D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0DDA0-9F96-4E40-9955-5F9B42A3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异常不是打印堆栈就结束；要把内部异常转换成稳定、可识别的 API 契约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D60B2-FF45-4FA8-9DD7-0D0F06A1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857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33EEC-F80B-4770-BE59-2212F971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B00D5-A184-44FA-8368-5B13840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529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"success": false,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"code": "TODO_NOT_FOUND",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"message": "Todo 不存在",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"path": "/api/todos/99",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"timestamp": "2026-09-15T10:00:00"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8FA76-15B7-44D3-A449-CFE815E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异常处理映射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1CDEF-77C3-4C12-BB40-49F5727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MethodArgumentNotValidException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109D1-4A3B-4176-83F6-48F2CDF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字段校验失败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92375-A530-480A-A427-5979B6AF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2E6A2-A463-470B-89CE-AD58A4E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148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17426-E27C-4527-93C6-A08D422C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TodoNotFoundException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0235E-0154-4197-BE32-01C3A33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资源不存在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7271C-1743-43D7-8380-95FB0AC6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6252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5219E-1FD1-4807-BF1C-864A6D3F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01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C10D2-38C1-4535-B4EB-9BB2BF2E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UnauthorizedException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B026A-DCB1-45DE-8C96-E08EA7F7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95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未登录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829C8-2958-43F4-8A11-205EA22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57800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E5907-DFD4-4350-92FE-D8DBBB27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054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95BF6-362D-4CA7-B21C-3F027CC8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BusinessException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BA5B1-7E2B-4425-BAC1-040A75A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91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业务冲突/限流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42973-3E2D-45EC-8AE5-5624DF57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53075"/>
            <a:ext cx="552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7CDD2-FD1D-40D2-BBC0-FF1CEBA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007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4xx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660AA-8371-471A-B44B-716CF7B4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GlobalExceptionHandler 要做什么？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E48A8F-C01A-40D2-9DD4-AB0B4BD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捕获已知异常：返回明确错误码，不暴露堆栈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捕获未知异常：记录完整日志，返回 INTERNAL_ERROR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统一携带 path：前端和日志能定位请求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错误码稳定，message 可以更适合用户阅读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BCB9A3-C285-435D-B591-3246EC5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2435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66DBD-CE82-43EA-9697-7CC94CC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14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个人复盘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5CA77-0163-4ADC-BA39-FBDA4A9C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76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哪些异常应该被用户看到？哪些只应该进日志？为什么？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335436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B7633-273F-41EF-A091-D993293E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3｜数据一致性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D2DB0-6E93-4A67-ACFA-C0AA3A9B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事务与操作日志：一次业务变化要一起成功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C2CBB-5FD6-4797-BE4F-A2B27AF6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D64CA-3A7B-482C-BA56-3B721549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F5526-493F-4A1C-AA48-8430F3A0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当前项目把 Todo 状态变化和 TodoActionLog 写入放在 Service 事务中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E38AE-B984-454C-A587-49FB30ED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61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C8B37-2899-4F96-B88E-C6AD842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ABF50-A3A8-45FD-955E-B2E4F02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314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@Transactional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toggleTodo(Long userId, Long id)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todo = getTodo(userId, id);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boolean next = !todo.isCompleted();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applyCompleted(todo, next);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Todo saved = todoRepository.save(todo);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addActionLog(saved, user, next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? TodoAction.COMPLETED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: TodoAction.UNCOMPLETED, ...);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saved;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F880F-DB35-427F-9444-5875C4B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事务边界怎么理解？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32326-6FE9-4D8D-8A1B-828A91B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@Transactional 让多个数据库写操作作为一个单元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中间任何 RuntimeException 发生，默认整体回滚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readOnly = true 告诉框架这是查询，表达意图并减少误操作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事务只覆盖数据库，不自动覆盖文件系统或消息 Broker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E0564-8EBE-4010-8D16-075EC913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AA5C7-D678-402A-91F0-D71727E1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2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必须做的实验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F0F43-D5DF-4E03-957E-6B875023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33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在写日志后人为抛异常，确认 Todo 和日志是否都没有提交。</a:t>
            </a:r>
          </a:p>
        </p:txBody>
      </p:sp>
    </p:spTree>
    <p:extLst>
      <p:ext uri="{BB962C8B-B14F-4D97-AF65-F5344CB8AC3E}">
        <p14:creationId xmlns:p14="http://schemas.microsoft.com/office/powerpoint/2010/main" val="1565261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213A5-6018-4C4B-9ACB-77E0905C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410F4-F3CD-4040-BC58-35B9634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缓存：@Cacheable 到底缓存了什么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C6B97-65A0-4245-B1FA-7FA79F11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A1750-CFE1-4537-AF75-9FF3E87C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D3019-78FA-47C4-8A15-C9DFA07A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当前项目的 Todo 详情和日志查询有缓存；更新、删除、恢复会驱逐对应 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53B8F-A09B-4699-82BE-AA6145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61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B0C51-2C3E-44B9-AC1A-4EC77813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30FDD-08F5-4FF6-9C12-C3B3DA8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314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@Cacheable(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cacheNames = CacheNames.TODO_DETAIL,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key = "#userId + ':' + #id")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getTodo(Long userId, Long id)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return todoRepository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.findByIdAndUserIdAndDeletedFalse(id, userId)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.orElseThrow(...);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@CacheEvict(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cacheNames = CacheNames.TODO_DETAIL,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key = "#userId + ':' + #id")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Todo updateTodo(...) { ...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3478E-68B5-43E2-9D56-DAB2F65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一次读取的两种路径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E0F53-4C5A-42D6-B882-02205AF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ED093-C222-46D2-8179-C7BDFE4B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669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第一次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4C73E-A648-4E9C-99EE-8691562E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cache miss → Repository → DB → 写入缓存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0BC90-ADA2-418E-AC74-D1C60DA0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990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F9760-E7C1-4D19-A3AC-A2DE9A8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第二次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1BCBD-7F12-4FBB-A5D5-CDB06A6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cache hit → 直接返回，不查 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CFFCE-5829-4E21-AFB3-6A4CECA3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76C70-3945-4987-AFCE-694AE2E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480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更新后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C2262-9038-4460-A67A-F26E2BC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save → evict 旧 key → 下次重新加载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B693C-8B6C-492A-8683-8A7E2C74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000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7EF3F-107C-4430-B11C-A41CC7A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91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关键风险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3D07F-C1EB-4EB0-AA4E-487C8244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53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key 少了 userId 会串数据；更新不驱逐会读到旧数据；缓存不是最终数据源。</a:t>
            </a:r>
          </a:p>
        </p:txBody>
      </p:sp>
    </p:spTree>
    <p:extLst>
      <p:ext uri="{BB962C8B-B14F-4D97-AF65-F5344CB8AC3E}">
        <p14:creationId xmlns:p14="http://schemas.microsoft.com/office/powerpoint/2010/main" val="213673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C90528-A378-4348-BBF4-F127A714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4–6｜REDIS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2C7B6-9099-443D-8E47-ECBB9D19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Redis 深入：TTL、幂等、限流和分布式锁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9131B-1407-421E-B14D-0CEA1070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C3087-B5B7-42CE-B0FC-71E78E0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6CAA8-126E-4732-A351-214B9AA0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当前项目已把这些能力抽象成接口，并提供内存实现和 Redis 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5B161-D886-4004-B0E9-F7384C9A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80D61-8429-43B5-94AF-EAEF3950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缓存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2C273-839C-44BB-9D89-D238908A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todo:detail:{userId}:{id}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7A69E-338A-440C-BC60-0010EC3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TTL 到期后回源数据库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5D0E0-834A-42EF-90EA-6900247B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276A9-8E0F-47AA-9A7D-57C8AFB9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BC62E-0474-4925-BBD2-1968028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幂等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D07D4-1651-4DB4-A8AE-AC88A58C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idempotency:todo-create:user:{id}:{key}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0CCCD-BDBE-4AA6-9A09-A9FCBA1F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PROCESSING / COMPLETED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338DC-175B-4029-A887-F4E4FDEA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8FA32-9BFC-4CC4-AD5F-9E12FF6D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32834-FDA2-46A3-8C56-A3B8390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限流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3F1CC-6483-4585-9A66-1F2F37FF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rate-limit:todo-create:user:{id}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3BAC4-535C-465B-9559-CE5B2686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固定窗口，超出返回 429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64D10-FFBB-4DB8-A8C3-AB440AFC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59F10-2A1E-42E4-A1F6-1DC293A5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857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BB60A-0B13-424D-B1F0-E38558DE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F7EFA-B0DD-4B3B-BFCB-2A7BE081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lock:todo-overdue-job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B7482-4AE4-4218-B858-53825088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租期到期自动释放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1F248-45A2-4DE7-8D54-E6C7D4FD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129B7-0457-4472-88E2-7E3F007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28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7E3BB-DF91-438C-AF27-714EF77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88478B-8736-470B-ABEE-C01D37C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9982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07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Idempotency-Key: create-todo-001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第一次：tryClaim → PROCESSING → 执行业务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成功后：afterCommit → COMPLETED(todoId)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重复请求：COMPLETED → 返回原 Todo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并发请求：PROCESSING → 提示稍后重试</a:t>
            </a:r>
          </a:p>
        </p:txBody>
      </p:sp>
    </p:spTree>
    <p:extLst>
      <p:ext uri="{BB962C8B-B14F-4D97-AF65-F5344CB8AC3E}">
        <p14:creationId xmlns:p14="http://schemas.microsoft.com/office/powerpoint/2010/main" val="273437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C3C040-1A18-460F-B2DB-6BF16663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4｜异步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8887E-5A12-4C90-8672-9DD39578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异步事件：afterCommit、线程池与失败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9BE2-CBAA-46A0-BD6F-D8E15F7F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B4614-8E99-4D9F-9658-A03CD3E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FAC3E-802A-415F-92A2-9C98974A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异步的价值是缩短主请求等待时间，但必须定义提交时机、线程池和失败策略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15A53-8B4A-44C6-BBC9-097F9EB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BA3C9-722C-4266-87E4-18B83E2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事务内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1BB04-B3D0-4306-B30B-BD30D9E0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保存 Todo + 日志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4C12A-EBE7-449B-8CD7-0069980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E3F26-F7F8-42A8-8869-7E56F320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D7241-42EE-4568-B5AF-7D899C8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afterCommit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F87F5-2F20-4BE6-8C9A-16CC8436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数据库提交后发布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70D98-16A4-441D-8577-DD62EF0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C74DB-44A3-4709-A19B-CBC2CC4C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F52DF-3740-42B1-95E3-ED48E956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线程池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EEB2D-234F-48B2-BE0B-59E8FB6F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后台消费事件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6D9F3-7E74-475B-BCDF-0302B193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6073-6DBE-4C98-A5EB-9A269A91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81390-7665-477D-A0A3-FF05E355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Handler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F0EFB-02A3-4233-BD60-C4EBAE25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写扩展记录/统计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25D2B-E0A7-482F-B9F3-C9D5B6C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992BE-3E7C-4848-81E4-6DA44EE2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A9527-411C-4B5D-9561-0321E622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8722B-05B9-4E3E-B742-2810AAF7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日志 + 重试/补偿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87610-763C-4019-AFEE-CC8A3E75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58357-72CE-4D9E-AA62-CA00F7CC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E68D4-BBFB-48D8-A50C-AEABDC84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4838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TransactionSynchronizationManager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.registerSynchronization(new TransactionSynchronization()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@Override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public void afterCommit()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    todoEventPublisher.publish(event);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  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});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CB8D61-7086-4AFD-B74F-52882B25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线程池需要想清楚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2FDB7-DF66-466D-A536-392EBC06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核心线程数和队列长度：任务堆积怎么办？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拒绝策略：满了以后是丢弃、阻塞还是报错？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上下文：requestId、用户信息是否需要传递？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消费失败：重试次数、告警、人工补偿在哪里？</a:t>
            </a:r>
          </a:p>
        </p:txBody>
      </p:sp>
    </p:spTree>
    <p:extLst>
      <p:ext uri="{BB962C8B-B14F-4D97-AF65-F5344CB8AC3E}">
        <p14:creationId xmlns:p14="http://schemas.microsoft.com/office/powerpoint/2010/main" val="17620814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6E3BC-0D6D-49FF-9C19-C7ECE8BD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4｜运行维护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8478C-A2BF-434C-8FE3-22689F81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定时任务、批处理与 Actuator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CBF1C-7CF8-4597-A8A5-0624983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537D3-9D97-493B-8948-A923E052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FD204-F1C8-4CCF-9175-B709172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后台任务也是接口：要可配置、可重复执行、可检查状态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D2E02-C6F5-47E4-9A37-0CFE9F9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B01D9-7EC1-49DA-A6FA-60BD2EE5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32273-158D-4D3C-AF63-64C08CA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app.todo.overdue-job.enabled=true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app.todo.overdue-job.cron=0 0 9 * * *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app.todo.overdue-job.zone=Asia/Shanghai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app.todo.overdue-job.page-size=50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/actuator/health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/actuator/info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GET /actuator/metrics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CE52B-F935-4695-AB17-AB16648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为什么要分页？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667BD-B475-4058-869B-DDABFCA7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避免一次把全部未完成 Todo 加载到内存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page-size=50 是每批上限，不是总数据量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6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重复执行要幂等：已标记 OVERDUE 的不要重复污染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505A6-5B58-4E70-9603-FF4B322E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本项目健康检查的边界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D8784-D46F-4F86-99A7-B58AC0D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5562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默认关闭 Redis、Kafka、RabbitMQ health，避免本机没服务导致应用不健康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health：服务是否能工作；metrics：运行数据；info：应用信息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生产环境只暴露必要端点，不把敏感配置全部暴露给匿名用户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23F11-DAFC-4B60-8480-0D5F607A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476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9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2EB1A-F500-4190-AC80-AC4731E7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464D8"/>
                </a:solidFill>
                <a:latin typeface="Arial"/>
                <a:ea typeface="Arial"/>
                <a:cs typeface="Arial"/>
              </a:rPr>
              <a:t>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F953B-7A03-4715-8CB8-743C93A6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339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手动调用内部任务接口，观察执行状态、处理数量和日志；再验证重复执行。</a:t>
            </a:r>
          </a:p>
        </p:txBody>
      </p:sp>
    </p:spTree>
    <p:extLst>
      <p:ext uri="{BB962C8B-B14F-4D97-AF65-F5344CB8AC3E}">
        <p14:creationId xmlns:p14="http://schemas.microsoft.com/office/powerpoint/2010/main" val="14644396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10FC6-6760-49FE-8448-B808BB39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5｜文件管理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47756-962A-497A-A352-5B48DF6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附件上传：数据库和文件系统的双边界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31F93-1E7A-4516-86EF-A475CAF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B8FCC-6921-4B0F-BAB1-1E2493B7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6F9BC-4138-45DA-829A-C63B358D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文件内容存储在哪里，文件元数据存储在哪里，失败时如何补偿？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7858C-1AA6-4C00-AA13-58ADF610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1A1F-1594-493A-BE94-6941173C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multipart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E161B-25A2-4CB6-856C-12B8F05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上传文件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CCAE2-6326-4C41-B99A-9D0BF6F3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841C7-9B61-412A-8ADE-DC77A287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FF06-4961-4454-83D0-AF73404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3F098-A334-4FBA-A5A6-1E0306D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大小、类型、文件名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9DD96-AEBC-4A37-BCD2-E53F6ACC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18AC1-EBFE-48C5-B75F-18EDA64D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3E870-C9A8-46A5-83BB-9CA90E6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文件系统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B92EE-5B79-429D-A1F1-8F260AE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uploads/{uuid}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B7C1F-F8D8-468A-8B76-B95D5E1D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8344C-6B03-493F-B14D-C6CD253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CFD6-E107-488D-81DA-38242147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数据库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12BA2-7DD0-44BF-B20B-18D56B4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TodoAttachment 元数据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7E936-BE14-4EE5-B266-DE101C68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7C396-F667-4F10-AFF4-3F05CCFB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8C316-B4B2-42A7-A9C1-E9636E2B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下载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AD851-D02D-4EC9-8C14-FD940CAA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校验归属后返回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AC6B9-E252-4F6C-BDE2-FDFDC947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59D1B-9870-4197-B916-DC4BDDC5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7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6F02E-C1D3-4A63-8F21-AD19E99B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4648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app.file-storage.root-location=uploads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app.file-storage.max-file-size-bytes=5242880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关键原则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String storedName = UUID.randomUUID() + suffix;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数据库只记录 originalName、storedName、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contentType、size、todoId、createdAt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B182C-491C-4E1F-8FBA-49991754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必须保护的失败场景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21AE9A-C789-465E-8D47-E1EBB847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6829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文件已写入，但数据库事务回滚：删除残留文件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数据库有元数据，但文件不存在：下载返回明确错误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下载前校验 userId / Todo 归属，不能只凭 attachmentId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不要直接使用用户原始文件名作为磁盘路径，防止路径穿越</a:t>
            </a:r>
          </a:p>
        </p:txBody>
      </p:sp>
    </p:spTree>
    <p:extLst>
      <p:ext uri="{BB962C8B-B14F-4D97-AF65-F5344CB8AC3E}">
        <p14:creationId xmlns:p14="http://schemas.microsoft.com/office/powerpoint/2010/main" val="17187349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B2E4B-F569-40BA-B399-F97A4F5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5｜权限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7FBCB-2411-4F4F-B6D3-8D6290F5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RBAC：认证、角色和资源归属是三层判断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9A279-F7E7-4D3F-AF57-BA2B7F85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8C054-C235-4EC7-B52A-541CE75C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0895B-E41E-4651-AA73-9381F05D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不能只在前端隐藏按钮；后端必须在请求和业务查询中都验证权限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C403D-A635-4AB2-A222-AF8F76F6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C9458-474C-429D-B8C5-E106CE00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1 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0CC5A-1409-4BCD-BBC0-AE9D2B66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JWT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6515B-E1F7-457D-A6B4-B873D8B5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Token 是否有效？用户是谁？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98D62-5856-4582-A382-E338719A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1DCE4-DE52-444E-AFFA-3CC11EEB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2 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8448B-392E-488B-B51B-A57A90C5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9A3E"/>
                </a:solidFill>
                <a:latin typeface="Arial"/>
                <a:ea typeface="Arial"/>
                <a:cs typeface="Arial"/>
              </a:rPr>
              <a:t>SecurityConfig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3B157-0926-4E62-8D64-10E23DC3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USER 能否访问 /api/admin？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B47E1-B4F4-480B-A787-0DB6FB5F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63CF1-F565-4205-960F-A4BEDDE4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3 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CD498-3C11-4AFF-9912-24624258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Service + userId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9AC29-DDDE-4229-85F7-50E9F8A5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这个 Todo 是否属于当前用户？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08C19-B562-4486-8CAC-7F133DD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84DDC-7EEF-425A-9A26-B3B07541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57643-27E2-42BF-9E9A-FEE32E0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4838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.requestMatchers("/api/admin/**").hasRole("ADMIN")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.anyRequest().authenticated()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// 查询必须带当前用户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todoRepository.findByIdAndUserIdAndDeletedFalse(id, userId);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5D1E1-E119-47D6-A9DC-F413DE95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测试矩阵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8D4C3-413D-43C6-A84C-FB3E65A4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未登录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84FBE-5C43-4A7F-9D71-542D3233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148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638ED-DCEC-4A12-8829-DD19B35F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624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0C62E-3B66-4552-80B5-16CBF1B0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普通用户访问自己的 Todo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21E38-3CBA-4D4F-8E1F-44E64BB6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0055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5ADAF-9ADA-440C-8AE5-7EC927DA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48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F5421-120C-4CD2-86C8-DDA09EF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普通用户访问别人的 Todo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3887A-18EC-4055-9098-D4F55B4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863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FEF74-E55A-40B1-9CB9-4C8753CC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339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404/403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53B7F-1CDE-4311-8B6D-975153DE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普通用户访问管理员接口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C2744-3D6B-456B-B608-63C6616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7205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410CE-B432-4DBB-92C7-E6492E2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196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6868"/>
                </a:solidFill>
                <a:latin typeface="Arial"/>
                <a:ea typeface="Arial"/>
                <a:cs typeface="Arial"/>
              </a:rPr>
              <a:t>403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FCE170-2DB4-4FA8-B5C4-0382C12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95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管理员访问管理员接口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EF47EF-6EBA-4325-96B1-88E1CDDC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E9B732-1B61-4A01-98CF-0B0CD588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0542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</p:spTree>
    <p:extLst>
      <p:ext uri="{BB962C8B-B14F-4D97-AF65-F5344CB8AC3E}">
        <p14:creationId xmlns:p14="http://schemas.microsoft.com/office/powerpoint/2010/main" val="20802341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F8076-8887-4398-8942-1EA8F35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5｜质量保障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C8673-298C-4D70-A4BF-0E3CF899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测试：Service 测试和 API 测试各自保护什么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3166F-822B-45CC-A435-3F805C6F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5E533-A6F6-4676-9ECB-26EEBC2D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4BF5D-927C-4247-AC92-654FD280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测试不是重复写代码：它把业务规则和接口行为固定下来，支持后续重构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84EBA-4C63-42B6-8AD1-50458791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910F9-464C-4A8F-97B3-11CA5F7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D96A5-7BCE-4804-A18D-73B6E1FA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Service 单元测试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9E5EC-789D-44C4-BC93-65C75CD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Mock TodoRepository、UserRepository、IdempotencyStore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适合测试：标题规范化、权限、异常、事务内业务规则、重复请求。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29D2D-6592-4B91-BEB6-22E738F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5276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A4A61-B5EB-4E8C-A9CD-6CACB83C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FB127-2560-40A5-9587-6ADE41E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Controller / API 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67AE5-331E-4D1E-8977-C02FC8E1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4895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使用 MockMvc 或 Spring 测试上下文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适合测试：URL、HTTP 方法、JSON、校验、401/403/404、响应格式。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07E04-0498-4A9A-B7B0-4AF07064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334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38FAC-40A6-4B32-B65F-415ACBCF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415F7-8AA2-4A75-8CA8-72B680A7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50292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@Mock TodoRepository todoRepository;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@InjectMocks TodoService todoService;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when(todoRepository.findByIdAndUserIdAndDeletedFalse(1L, 9L))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.thenReturn(Optional.empty());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assertThrows(TodoNotFoundException.class,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() -&gt; todoService.getTodo(9L, 1L));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C3E1A-97D3-4E58-8EDE-687CCDC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个人最低测试集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84079-2117-4F90-8594-0682CF37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3198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创建成功：返回 201 和 Location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标题非法：返回 400 和字段错误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资源不存在：返回 404 / TODO_NOT_FOUND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无权限：返回 401 或 403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幂等 Key 重复：返回同一个 Todo</a:t>
            </a:r>
          </a:p>
        </p:txBody>
      </p:sp>
    </p:spTree>
    <p:extLst>
      <p:ext uri="{BB962C8B-B14F-4D97-AF65-F5344CB8AC3E}">
        <p14:creationId xmlns:p14="http://schemas.microsoft.com/office/powerpoint/2010/main" val="13588074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C7A07-555A-497A-9588-E13E56C4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5｜数据库性能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8A42B-F414-4FF3-B543-AE5EAFF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SQL、索引和慢查询：从证据开始优化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848E1-AA5D-4A97-A2E0-D853F5A0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669AD-2473-43A4-AFBA-B9C527B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1FE7C-BEAB-4460-BB9F-B1599208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当前迁移 V8 已加入 Todo 查询索引；学习时要能解释索引为什么放在这些列上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FEF36-2D2C-42E2-94A0-A5B7E313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044C2-55BA-4A0C-AD88-8C4FE56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AFA67-F0EB-4C82-A07D-3A4413CF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648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-- 典型列表查询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where user_id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deleted =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and completed = 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order by created_at desc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-- 学习用检查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EXPLAIN ANALYZE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select ...;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BCA11-AA6C-4890-9DAA-236D587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索引思考顺序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AD985-13E1-49A6-9C84-33E0661B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先看 WHERE：是否经常按 user_id、completed 过滤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再看 ORDER BY：是否总按 created_at / id 排序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组合索引列顺序影响能否有效缩小范围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索引会增加 INSERT / UPDATE 成本，不是越多越好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9F598-C9E7-4E26-A769-9F4F2A8A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慢 SQL 排查链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2389A-3BBC-4CCB-A13B-9E110EE1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13C48-683C-4EFB-8DC3-7975BB7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47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接口耗时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B6BBB-236C-4003-A71F-1458BEA2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先确认真的慢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4F1CA-F5F5-4657-BC70-24378C0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9575C-3D59-46C8-9DDE-03DCCFDC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0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A6657-4A88-47EA-BFDA-85DA5DF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找到是哪条查询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5B371-4CB4-4EC0-96D4-733DCB1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47643-462D-4535-B0E2-CD523CA6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39628-4CAB-4E91-8EBC-373543BD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看扫描和排序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28CF3-D6C1-430A-BDCF-9152C9D1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3F6B4-89FF-4466-A4ED-A52A346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052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加索引/改查询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00A6B-EF42-461A-BA26-F2E6505A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小步修改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BEC92-CE12-4E88-8149-826051E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A62E52-2A55-435B-84F9-DD0B498E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577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重新对比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845EA-C138-4C8F-A915-CEEB525F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相同数据验证</a:t>
            </a:r>
          </a:p>
        </p:txBody>
      </p:sp>
    </p:spTree>
    <p:extLst>
      <p:ext uri="{BB962C8B-B14F-4D97-AF65-F5344CB8AC3E}">
        <p14:creationId xmlns:p14="http://schemas.microsoft.com/office/powerpoint/2010/main" val="8399145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7F9D6-D1CC-4942-A13B-CE4FEB87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6｜运行环境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84641-47C8-4EC5-BF86-5688AAFD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Docker 与 PostgreSQL：何时切换真实环境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E99DA-BEF8-4D32-A3EB-16BD2558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1A1B8-6F01-4E08-A626-343BD48F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0D1A0-5DE6-472C-859E-865B3BE0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当前可以不安装 Docker/PostgreSQL；本页先理解容器和真实数据库的边界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5BA6C-0E83-4613-A895-7E91706A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334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2C117-1FA0-4E39-AEF3-4E36B566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6AF93-2BE6-4CFD-9334-10484DCC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029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Dockerfile 的思路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FROM eclipse-temurin:21-jre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COPY target/java-todo-api-1.0.0.jar app.jar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EXPOSE 8080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ENTRYPOINT ["java", "-jar", "/app.jar"]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# 有 Docker 时才执行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up -d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logs -f app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docker compose 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D6C2E-879E-4288-A737-5F3661E6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为什么要容器化？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FB1A5-524D-4F83-942F-FB91D676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把 JDK/JRE、应用和启动方式固定下来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让本机、CI、服务器使用接近一致的运行环境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容器不是虚拟机：共享宿主机内核，启动更轻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800"/>
              </a:spcAft>
              <a:buNone/>
              <a:defRPr sz="1275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E2D38"/>
                </a:solidFill>
                <a:latin typeface="Arial"/>
                <a:ea typeface="Arial"/>
                <a:cs typeface="Arial"/>
              </a:rPr>
              <a:t>数据要挂载 volume；容器删除不等于数据删除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9CDA8-13CB-4BCD-9D7B-B9B94817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43400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BB513-6950-4CAC-9B5F-9FDEF69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切换 PostgreSQL 的学习顺序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D808F-0D40-47B1-8940-7698A5A8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先 mvn test + H2 跑通 → 再启动 PostgreSQL → 激活 postgres profile → 重新跑迁移和测试。</a:t>
            </a:r>
          </a:p>
        </p:txBody>
      </p:sp>
    </p:spTree>
    <p:extLst>
      <p:ext uri="{BB962C8B-B14F-4D97-AF65-F5344CB8AC3E}">
        <p14:creationId xmlns:p14="http://schemas.microsoft.com/office/powerpoint/2010/main" val="17222320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E158E-E850-480E-9C2B-95F9D0D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6｜消息系统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361F8-1CFF-47AD-B443-C7978323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Kafka：当前项目代码中的 Producer、Consumer 和 DLT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D3D2A-E29E-4B55-A839-83532A77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FE3B7-00B2-448B-9A3B-C1612FC6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9F467-5312-4369-BFC6-4849872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Kafka 的核心是 Topic、Partition、Offset、Consumer Group 和可回放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3E5AC-6B95-4218-BD19-0667DB53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E7168-428C-47EA-B6D3-4D9504C6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8A4E6-F83F-4A95-A18B-7E835E4E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4102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@RetryableTopic(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attempts = "3",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backoff = @Backoff(delay = 1000L))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@KafkaListener(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topics = "${app.messaging.kafka.topic}",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groupId = "${app.messaging.kafka.consumer-group}")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void consume(TodoActionLogMessage message)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  messageHandler.handle(message);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@DltHandler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public void consumeDeadLetter(...) { ...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22E61-7D2E-414D-8329-77003AB5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项目配置和含义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D5895-FB47-4735-866F-15820CA6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topic=todo-action-log：事件分类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partitions=3：允许并行消费；同 key 才保证局部顺序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consumer-group=java-todo-api：组内分摊分区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attempts=3：失败最多按重试策略处理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DLT：多次失败后留下消息，便于人工排查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28B90-727F-4915-9BEF-D865C565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ED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38FF6-C123-4C5D-90AD-13E7649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81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CFF"/>
                </a:solidFill>
                <a:latin typeface="Arial"/>
                <a:ea typeface="Arial"/>
                <a:cs typeface="Arial"/>
              </a:rPr>
              <a:t>个人练习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3A1D4-ADAD-4E7C-83E1-F8CC46F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05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0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3232E"/>
                </a:solidFill>
                <a:latin typeface="Arial"/>
                <a:ea typeface="Arial"/>
                <a:cs typeface="Arial"/>
              </a:rPr>
              <a:t>让 handler 第 1 次抛异常，第 2 次成功，观察重试和 offset。</a:t>
            </a:r>
          </a:p>
        </p:txBody>
      </p:sp>
    </p:spTree>
    <p:extLst>
      <p:ext uri="{BB962C8B-B14F-4D97-AF65-F5344CB8AC3E}">
        <p14:creationId xmlns:p14="http://schemas.microsoft.com/office/powerpoint/2010/main" val="3255161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82DC7-B192-4B9A-9B7F-E9A9E799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6｜消息系统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CDC5-A0F0-4E0C-888E-4D7C1D8E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RabbitMQ：Exchange、Queue、ACK 和死信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C2645-24B4-44E3-8766-736D1750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FF95F-D71D-4112-94B7-861CFD43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AACD-E68C-4D6B-8AB7-1E60E1A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RabbitMQ 更强调路由和投递确认：消息进入哪个 Queue，消费成功后何时 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F53D5-502D-4392-8D13-40A27913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74333-32B9-4EBC-9DD9-BCB6661B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C8182-A91B-4003-8F44-8D7F6B2C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F7C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F7C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E533A-4998-4864-A534-19E1B149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CB9B9-C7D9-4AD6-AB69-EC2F4E0B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9A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81CD5-4E1B-4BC8-8A50-9FFB987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66D34-D641-4662-9CDB-1A4129FE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09A3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09A3E"/>
                </a:solidFill>
                <a:latin typeface="Arial"/>
                <a:ea typeface="Arial"/>
                <a:cs typeface="Arial"/>
              </a:rPr>
              <a:t>todo.events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84A69-65F0-479F-9FCB-12F07E03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73312-25F0-4DA1-BA43-95BC72D1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8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9CB9D-6090-48BF-8DCD-3AEAB74F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Binding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2E486-CCA6-4011-A264-AB514988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2A892"/>
                </a:solidFill>
                <a:latin typeface="Arial"/>
                <a:ea typeface="Arial"/>
                <a:cs typeface="Arial"/>
              </a:rPr>
              <a:t>routing-key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4A703-EBF8-4B49-B8EF-7EA657C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3D97B-A61F-4467-A9F4-5EFA063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464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A0EF1-906B-4794-9FE7-967B5913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014C4-77AA-4C2D-8AF8-8568C29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46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464D8"/>
                </a:solidFill>
                <a:latin typeface="Arial"/>
                <a:ea typeface="Arial"/>
                <a:cs typeface="Arial"/>
              </a:rPr>
              <a:t>todo-action-log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2B114-4F88-4FC9-BA82-026D2D1D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41174-EAEC-4214-A9F9-D742E602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165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68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65994-92B3-4C91-8809-337872AA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6B994-63DD-43B5-B7C5-629126A3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D968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96868"/>
                </a:solidFill>
                <a:latin typeface="Arial"/>
                <a:ea typeface="Arial"/>
                <a:cs typeface="Arial"/>
              </a:rPr>
              <a:t>正常返回 → 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AD787-6F5E-49AA-B664-4606DF3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238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9501F-23F9-4D61-BE61-3B997B52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0A862-447D-4F2D-B7EB-C15E817C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4933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QueueBuilder.durable(queue)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.withArgument("x-dead-letter-exchange", dlx)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.withArgument("x-dead-letter-routing-key", dlqKey)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  .build();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factory.setDefaultRequeueRejected(false);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E6F0F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6F0F4"/>
                </a:solidFill>
                <a:latin typeface="Arial"/>
                <a:ea typeface="Arial"/>
                <a:cs typeface="Arial"/>
              </a:rPr>
              <a:t>factory.setAdviceChain(retryInterceptor(maxAttempts=3));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F268C-6F93-4493-AAA6-179D929B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失败时发生什么？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A1878-C637-464F-A06C-E342A34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Consumer 抛异常：进入 Spring Retry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重试耗尽：Reject 且不重新入队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Queue 的 DLX 配置：转发到死信 Exchange/Queue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管理员查看 DLQ，修复后再决定是否重新投递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20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E2D38"/>
                </a:solidFill>
                <a:latin typeface="Arial"/>
                <a:ea typeface="Arial"/>
                <a:cs typeface="Arial"/>
              </a:rPr>
              <a:t>ACK 之前进程崩溃：消息可能再次投递，业务必须幂等</a:t>
            </a:r>
          </a:p>
        </p:txBody>
      </p:sp>
    </p:spTree>
    <p:extLst>
      <p:ext uri="{BB962C8B-B14F-4D97-AF65-F5344CB8AC3E}">
        <p14:creationId xmlns:p14="http://schemas.microsoft.com/office/powerpoint/2010/main" val="1513663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A8C1AA-E0B2-45FE-917A-6B7D4EA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2A89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A892"/>
                </a:solidFill>
                <a:latin typeface="Arial"/>
                <a:ea typeface="Arial"/>
                <a:cs typeface="Arial"/>
              </a:rPr>
              <a:t>阶段 7｜交付能力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EF844-9038-40B7-9CD3-63A21A0B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第 28 周：用真实代码完成一次综合复盘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06E5D-A9FE-4707-868D-F7067B7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D31FD-5871-4CA7-82EC-5D64EF04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8C9A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C9AA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5EE52-1889-4E6E-ACA6-34C073A6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071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17C"/>
                </a:solidFill>
                <a:latin typeface="Arial"/>
                <a:ea typeface="Arial"/>
                <a:cs typeface="Arial"/>
              </a:rPr>
              <a:t>最终不是背完术语，而是能从一个接口解释到数据、异常、测试和运行状态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30B24-A4C2-46E9-94D3-7CE552B1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558C0-C96B-49F4-9D36-3C2FA839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BF343-ECE3-41E0-A7CD-8BCFA86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95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从 POST /api/todos 画调用链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AF5F2-8AE1-42D0-B3F6-EFE7357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954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Controller → DTO → Service → Repository → 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3DE32-1182-44B0-BDD8-C5C24CAD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4A12-08E1-4B18-B953-7BD68D90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B5A08-E96C-42EB-978C-A030783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728F1-F495-464B-BD61-17034750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检查用户隔离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87ECE-6758-4488-BF61-7C787E5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所有详情、列表、日志查询是否带 userId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797E6-B43C-4C83-90AC-1F559665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3A733-3A38-445F-8DA6-182F616E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9A3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9D68B-F5A5-45DA-A7DA-02B59DF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925E6-CB23-44C1-9A53-6D2CA982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检查事务与缓存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4928D-17CA-4AD2-AF14-B847BBCE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289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写操作是否清缓存；日志是否和主数据一致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F249E-F332-4AFC-956F-4C192646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17F95F-ED01-49FE-AAF6-B3CF09B4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8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03368-4A13-4F5B-B75E-EB20BA04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D23A7-298E-4042-A487-36966DCB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补 401/403/404/400 测试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03EB8-0A04-48E3-98C2-90F87AE7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验证权限、校验、资源不存在和统一响应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E22A7-7DE4-4095-B631-7A0A87DF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1A7F4F-BCF5-454B-B88A-948EE87C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64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DA9BC-0519-4FEF-B9A3-C5964FB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355EA-8966-4C9B-8B40-58AA88C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62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检查消息失败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E0641-1F2F-4FA1-A86E-B473F0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62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重试、DLT/DLQ、幂等、requestId 是否可追踪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1E378-8115-4B8E-BEB7-7F43C05F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EC52D-F62A-4756-B3ED-7E6E320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89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5988B-8F6E-421F-BBBB-5647395F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0B23A-1304-40ED-9B96-D38CB475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运行完整验证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8BBD94-B848-4EAC-8F3E-B8FC4E1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mvn test、打包、启动、health、日志排查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F11A3B-A7F8-4F54-8EDF-9E5DA628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E26582-3218-41B7-868E-3076C89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59530-C91D-4DCA-ADA9-805B8C1B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495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A2F136-0372-4517-8270-E6190EA4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958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323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232E"/>
                </a:solidFill>
                <a:latin typeface="Arial"/>
                <a:ea typeface="Arial"/>
                <a:cs typeface="Arial"/>
              </a:rPr>
              <a:t>写个人技术总结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259931-F306-491B-9E52-C33C802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E2D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E2D38"/>
                </a:solidFill>
                <a:latin typeface="Arial"/>
                <a:ea typeface="Arial"/>
                <a:cs typeface="Arial"/>
              </a:rPr>
              <a:t>每个设计记录：问题、方案、代价、遗留风险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4852EE-7100-4FEE-A566-FFE78C6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232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95D1B0-1567-4BB9-9ADD-0E86404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个人最终验收：我能启动项目、写一个接口、解释一条 SQL、定位一个异常，并说明没有 PostgreSQL/Redis/Broker 时如何运行。</a:t>
            </a:r>
          </a:p>
        </p:txBody>
      </p:sp>
    </p:spTree>
    <p:extLst>
      <p:ext uri="{BB962C8B-B14F-4D97-AF65-F5344CB8AC3E}">
        <p14:creationId xmlns:p14="http://schemas.microsoft.com/office/powerpoint/2010/main" val="424211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2026-09-20T06:48:07.6720000Z</dcterms:created>
  <dcterms:modified xsi:type="dcterms:W3CDTF">2026-09-20T06:48:07.6720000Z</dcterms:modified>
</coreProperties>
</file>