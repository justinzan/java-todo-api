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51881394a5469c" /><Relationship Type="http://schemas.openxmlformats.org/officeDocument/2006/relationships/extended-properties" Target="/docProps/app.xml" Id="Rfa6e95658fdd4d10" /><Relationship Type="http://schemas.openxmlformats.org/officeDocument/2006/relationships/officeDocument" Target="/ppt/presentation.xml" Id="Rffcd7dfd10e34d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063b1a9f984fdf"/>
  </p:sldMasterIdLst>
  <p:notesMasterIdLst>
    <p:notesMasterId xmlns:r="http://schemas.openxmlformats.org/officeDocument/2006/relationships" r:id="R7b45e56ea5264605"/>
  </p:notesMasterIdLst>
  <p:sldIdLst>
    <p:sldId xmlns:r="http://schemas.openxmlformats.org/officeDocument/2006/relationships" id="256" r:id="Rda74e871582c49f0"/>
    <p:sldId xmlns:r="http://schemas.openxmlformats.org/officeDocument/2006/relationships" id="257" r:id="Rf81a26ee0b4d4bfb"/>
    <p:sldId xmlns:r="http://schemas.openxmlformats.org/officeDocument/2006/relationships" id="258" r:id="R9c60e6503d584fc0"/>
    <p:sldId xmlns:r="http://schemas.openxmlformats.org/officeDocument/2006/relationships" id="259" r:id="Rbe56d24f29e14b14"/>
    <p:sldId xmlns:r="http://schemas.openxmlformats.org/officeDocument/2006/relationships" id="260" r:id="Ra92c6ec970ad4b39"/>
    <p:sldId xmlns:r="http://schemas.openxmlformats.org/officeDocument/2006/relationships" id="261" r:id="R1ab4c5c5c297401c"/>
    <p:sldId xmlns:r="http://schemas.openxmlformats.org/officeDocument/2006/relationships" id="262" r:id="Rd9c48004a1fa47aa"/>
    <p:sldId xmlns:r="http://schemas.openxmlformats.org/officeDocument/2006/relationships" id="263" r:id="R3705e2dc80fa4ff2"/>
    <p:sldId xmlns:r="http://schemas.openxmlformats.org/officeDocument/2006/relationships" id="264" r:id="Ra7fd948e450c4708"/>
    <p:sldId xmlns:r="http://schemas.openxmlformats.org/officeDocument/2006/relationships" id="265" r:id="R29258d573d2e4525"/>
    <p:sldId xmlns:r="http://schemas.openxmlformats.org/officeDocument/2006/relationships" id="266" r:id="Re2c6d573116248d1"/>
    <p:sldId xmlns:r="http://schemas.openxmlformats.org/officeDocument/2006/relationships" id="267" r:id="Rb214602a58174b18"/>
    <p:sldId xmlns:r="http://schemas.openxmlformats.org/officeDocument/2006/relationships" id="268" r:id="Ra10efd545b8c494e"/>
    <p:sldId xmlns:r="http://schemas.openxmlformats.org/officeDocument/2006/relationships" id="269" r:id="R71aa04601f9a4f09"/>
    <p:sldId xmlns:r="http://schemas.openxmlformats.org/officeDocument/2006/relationships" id="270" r:id="R97edced3c8814111"/>
    <p:sldId xmlns:r="http://schemas.openxmlformats.org/officeDocument/2006/relationships" id="271" r:id="R21a3776d47364151"/>
    <p:sldId xmlns:r="http://schemas.openxmlformats.org/officeDocument/2006/relationships" id="272" r:id="R74a2ade0a56c4c20"/>
    <p:sldId xmlns:r="http://schemas.openxmlformats.org/officeDocument/2006/relationships" id="273" r:id="R811c14f1dd7c4661"/>
    <p:sldId xmlns:r="http://schemas.openxmlformats.org/officeDocument/2006/relationships" id="274" r:id="R84c103314f824d95"/>
    <p:sldId xmlns:r="http://schemas.openxmlformats.org/officeDocument/2006/relationships" id="275" r:id="R3352c7f3f9b142e5"/>
    <p:sldId xmlns:r="http://schemas.openxmlformats.org/officeDocument/2006/relationships" id="276" r:id="R8fa915ef91f44124"/>
    <p:sldId xmlns:r="http://schemas.openxmlformats.org/officeDocument/2006/relationships" id="277" r:id="Rfeacfb057b244eaa"/>
    <p:sldId xmlns:r="http://schemas.openxmlformats.org/officeDocument/2006/relationships" id="278" r:id="Rb5830b78192e473e"/>
    <p:sldId xmlns:r="http://schemas.openxmlformats.org/officeDocument/2006/relationships" id="279" r:id="R672f1ad087f249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da1f1be5a846e0" /><Relationship Type="http://schemas.openxmlformats.org/officeDocument/2006/relationships/slideMaster" Target="/ppt/slideMasters/slideMaster1.xml" Id="R7f063b1a9f984fdf" /><Relationship Type="http://schemas.openxmlformats.org/officeDocument/2006/relationships/notesMaster" Target="/ppt/notesMasters/notesMaster1.xml" Id="R7b45e56ea5264605" /><Relationship Type="http://schemas.openxmlformats.org/officeDocument/2006/relationships/presProps" Target="/ppt/presProps.xml" Id="Rf905c7ec893f4b8e" /><Relationship Type="http://schemas.openxmlformats.org/officeDocument/2006/relationships/tableStyles" Target="/ppt/tableStyles.xml" Id="Ra29a79fac318447d" /><Relationship Type="http://schemas.openxmlformats.org/officeDocument/2006/relationships/slide" Target="/ppt/slides/slide1.xml" Id="Rda74e871582c49f0" /><Relationship Type="http://schemas.openxmlformats.org/officeDocument/2006/relationships/slide" Target="/ppt/slides/slide2.xml" Id="Rf81a26ee0b4d4bfb" /><Relationship Type="http://schemas.openxmlformats.org/officeDocument/2006/relationships/slide" Target="/ppt/slides/slide3.xml" Id="R9c60e6503d584fc0" /><Relationship Type="http://schemas.openxmlformats.org/officeDocument/2006/relationships/slide" Target="/ppt/slides/slide4.xml" Id="Rbe56d24f29e14b14" /><Relationship Type="http://schemas.openxmlformats.org/officeDocument/2006/relationships/slide" Target="/ppt/slides/slide5.xml" Id="Ra92c6ec970ad4b39" /><Relationship Type="http://schemas.openxmlformats.org/officeDocument/2006/relationships/slide" Target="/ppt/slides/slide6.xml" Id="R1ab4c5c5c297401c" /><Relationship Type="http://schemas.openxmlformats.org/officeDocument/2006/relationships/slide" Target="/ppt/slides/slide7.xml" Id="Rd9c48004a1fa47aa" /><Relationship Type="http://schemas.openxmlformats.org/officeDocument/2006/relationships/slide" Target="/ppt/slides/slide8.xml" Id="R3705e2dc80fa4ff2" /><Relationship Type="http://schemas.openxmlformats.org/officeDocument/2006/relationships/slide" Target="/ppt/slides/slide9.xml" Id="Ra7fd948e450c4708" /><Relationship Type="http://schemas.openxmlformats.org/officeDocument/2006/relationships/slide" Target="/ppt/slides/slide10.xml" Id="R29258d573d2e4525" /><Relationship Type="http://schemas.openxmlformats.org/officeDocument/2006/relationships/slide" Target="/ppt/slides/slide11.xml" Id="Re2c6d573116248d1" /><Relationship Type="http://schemas.openxmlformats.org/officeDocument/2006/relationships/slide" Target="/ppt/slides/slide12.xml" Id="Rb214602a58174b18" /><Relationship Type="http://schemas.openxmlformats.org/officeDocument/2006/relationships/slide" Target="/ppt/slides/slide13.xml" Id="Ra10efd545b8c494e" /><Relationship Type="http://schemas.openxmlformats.org/officeDocument/2006/relationships/slide" Target="/ppt/slides/slide14.xml" Id="R71aa04601f9a4f09" /><Relationship Type="http://schemas.openxmlformats.org/officeDocument/2006/relationships/slide" Target="/ppt/slides/slide15.xml" Id="R97edced3c8814111" /><Relationship Type="http://schemas.openxmlformats.org/officeDocument/2006/relationships/slide" Target="/ppt/slides/slide16.xml" Id="R21a3776d47364151" /><Relationship Type="http://schemas.openxmlformats.org/officeDocument/2006/relationships/slide" Target="/ppt/slides/slide17.xml" Id="R74a2ade0a56c4c20" /><Relationship Type="http://schemas.openxmlformats.org/officeDocument/2006/relationships/slide" Target="/ppt/slides/slide18.xml" Id="R811c14f1dd7c4661" /><Relationship Type="http://schemas.openxmlformats.org/officeDocument/2006/relationships/slide" Target="/ppt/slides/slide19.xml" Id="R84c103314f824d95" /><Relationship Type="http://schemas.openxmlformats.org/officeDocument/2006/relationships/slide" Target="/ppt/slides/slide20.xml" Id="R3352c7f3f9b142e5" /><Relationship Type="http://schemas.openxmlformats.org/officeDocument/2006/relationships/slide" Target="/ppt/slides/slide21.xml" Id="R8fa915ef91f44124" /><Relationship Type="http://schemas.openxmlformats.org/officeDocument/2006/relationships/slide" Target="/ppt/slides/slide22.xml" Id="Rfeacfb057b244eaa" /><Relationship Type="http://schemas.openxmlformats.org/officeDocument/2006/relationships/slide" Target="/ppt/slides/slide23.xml" Id="Rb5830b78192e473e" /><Relationship Type="http://schemas.openxmlformats.org/officeDocument/2006/relationships/slide" Target="/ppt/slides/slide24.xml" Id="R672f1ad087f249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d47baaf23642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45e32f48b74c06" /><Relationship Type="http://schemas.openxmlformats.org/officeDocument/2006/relationships/notesMaster" Target="/ppt/notesMasters/notesMaster1.xml" Id="Rb97d355549d047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deaebd90674251" /><Relationship Type="http://schemas.openxmlformats.org/officeDocument/2006/relationships/notesMaster" Target="/ppt/notesMasters/notesMaster1.xml" Id="R8aca8d3dc6674f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1e15aae5db4774" /><Relationship Type="http://schemas.openxmlformats.org/officeDocument/2006/relationships/notesMaster" Target="/ppt/notesMasters/notesMaster1.xml" Id="R5f55265181dc48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14c64c9262464f" /><Relationship Type="http://schemas.openxmlformats.org/officeDocument/2006/relationships/notesMaster" Target="/ppt/notesMasters/notesMaster1.xml" Id="Rf4f48e0b25b74a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da8b97b4da41cb" /><Relationship Type="http://schemas.openxmlformats.org/officeDocument/2006/relationships/notesMaster" Target="/ppt/notesMasters/notesMaster1.xml" Id="R39d166311a8243a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289567bbbf4a1e" /><Relationship Type="http://schemas.openxmlformats.org/officeDocument/2006/relationships/notesMaster" Target="/ppt/notesMasters/notesMaster1.xml" Id="Rae229a56ea8c4f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492be9ff6c44a0" /><Relationship Type="http://schemas.openxmlformats.org/officeDocument/2006/relationships/notesMaster" Target="/ppt/notesMasters/notesMaster1.xml" Id="Ra7ca1453aca24c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13f27ea4984f8a" /><Relationship Type="http://schemas.openxmlformats.org/officeDocument/2006/relationships/notesMaster" Target="/ppt/notesMasters/notesMaster1.xml" Id="Rdbdd137a2b7845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c7e4e791cb4c13" /><Relationship Type="http://schemas.openxmlformats.org/officeDocument/2006/relationships/notesMaster" Target="/ppt/notesMasters/notesMaster1.xml" Id="R206246f9d6c94f9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bef0f6706e54eee" /><Relationship Type="http://schemas.openxmlformats.org/officeDocument/2006/relationships/notesMaster" Target="/ppt/notesMasters/notesMaster1.xml" Id="Racc0314441014bc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974fe609b1144da" /><Relationship Type="http://schemas.openxmlformats.org/officeDocument/2006/relationships/notesMaster" Target="/ppt/notesMasters/notesMaster1.xml" Id="Ree3dfbade7794c4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40c19ef6a9c4a93" /><Relationship Type="http://schemas.openxmlformats.org/officeDocument/2006/relationships/notesMaster" Target="/ppt/notesMasters/notesMaster1.xml" Id="R220a0b5caec2488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9eb2c0052534fe4" /><Relationship Type="http://schemas.openxmlformats.org/officeDocument/2006/relationships/notesMaster" Target="/ppt/notesMasters/notesMaster1.xml" Id="Rba710c204fe74e5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c27de7ce94c468a" /><Relationship Type="http://schemas.openxmlformats.org/officeDocument/2006/relationships/notesMaster" Target="/ppt/notesMasters/notesMaster1.xml" Id="Rfc2f9b476f9f4e5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cec3a0134684ae9" /><Relationship Type="http://schemas.openxmlformats.org/officeDocument/2006/relationships/notesMaster" Target="/ppt/notesMasters/notesMaster1.xml" Id="R9b793babb0bd46e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e8adfa0a9fa455d" /><Relationship Type="http://schemas.openxmlformats.org/officeDocument/2006/relationships/notesMaster" Target="/ppt/notesMasters/notesMaster1.xml" Id="Ref880686d6674ee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4185fcecc8d4402" /><Relationship Type="http://schemas.openxmlformats.org/officeDocument/2006/relationships/notesMaster" Target="/ppt/notesMasters/notesMaster1.xml" Id="Rc9cd7a4f8a75495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1b2032b34e7418b" /><Relationship Type="http://schemas.openxmlformats.org/officeDocument/2006/relationships/notesMaster" Target="/ppt/notesMasters/notesMaster1.xml" Id="R8e3561c6ee5d4e0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1ca006b1af147b9" /><Relationship Type="http://schemas.openxmlformats.org/officeDocument/2006/relationships/notesMaster" Target="/ppt/notesMasters/notesMaster1.xml" Id="Rfc16b47bb8424d6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b1cca14c1fc4175" /><Relationship Type="http://schemas.openxmlformats.org/officeDocument/2006/relationships/notesMaster" Target="/ppt/notesMasters/notesMaster1.xml" Id="R83e0777c0d1642e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f74ef3a9b05432e" /><Relationship Type="http://schemas.openxmlformats.org/officeDocument/2006/relationships/notesMaster" Target="/ppt/notesMasters/notesMaster1.xml" Id="R96711af7e2d042c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e47e42f62074bb1" /><Relationship Type="http://schemas.openxmlformats.org/officeDocument/2006/relationships/notesMaster" Target="/ppt/notesMasters/notesMaster1.xml" Id="R6e52392887ea4b8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c9053d253bb4f4e" /><Relationship Type="http://schemas.openxmlformats.org/officeDocument/2006/relationships/notesMaster" Target="/ppt/notesMasters/notesMaster1.xml" Id="R7e0dcad247754e8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9dd41f620ea4411" /><Relationship Type="http://schemas.openxmlformats.org/officeDocument/2006/relationships/notesMaster" Target="/ppt/notesMasters/notesMaster1.xml" Id="Rf6a89ac49cd647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这份 PPT 是个人技术教材，不是概览。建议每次只看 1 到 2 页，然后立刻打开对应的 Java 文件、配置文件或测试文件验证。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学习时不要一次打开整个项目。先确定一个问题，再使用 IDE 的跳转功能沿着调用链阅读。个人学习最重要的是形成排错习惯。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这是项目的阅读地图。遇到一个接口时，先从 Controller 开始；遇到数据问题时，继续看 Entity、Repository 和 Flyway migration；遇到权限问题时，看 Filter 和 SecurityConfig。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Maven 不只是下载依赖，它还统一了编译、测试和打包入口。每次改代码至少跑相关测试，阶段结束再跑完整 mvn test。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1–3 周的重点是把面向对象写成业务代码。不要只背 class、interface 的定义，要观察它们如何帮助后续替换 Repository、隔离 Service 和编写测试。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阅读 Controller 时逐个标注注解的作用。前端开发者可以把它理解为路由处理器，但后端 Controller 还要明确认证主体、校验和响应状态码。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用户之前问过 findByCompleted、findByTitleContaining 等方法。这里要建立规则：Spring Data 根据方法名生成查询，但复杂查询要看实际 SQL，不能只凭方法名猜性能。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校验的价值是尽早失败。Entity 和 DTO 分离的价值是控制契约：数据库怎么变化，不应该自动决定前端看见什么。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当前项目使用 OncePerRequestFilter。Filter 验证 Token 后把认证对象放进 SecurityContext，后面的 Controller 才能拿到当前用户。401 是未认证，403 是已认证但无权限。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配置学习要看三件事：哪个 profile 生效、连接了什么、谁负责建表。Flyway 的价值是把数据库结构变更变成可追踪的代码，而不是让 Hibernate 在启动时猜。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统一响应让前端不用为每个接口猜格式。全局异常处理的边界是：对外安全、稳定；对内保留 requestId 和堆栈，方便定位。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事务的核心是原子性：数据库内的一组变化要么一起提交，要么一起回滚。不要误以为 @Transactional 能解决数据库和文件、数据库和消息之间的所有一致性问题。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学习缓存时先追踪一个 key。当前 key 是 userId:id，体现了数据隔离。更新方法上的 CacheEvict 很关键，否则缓存会比数据库旧。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TTL 是数据自动过期时间。幂等要在数据库事务提交后再标记完成，避免事务回滚但 Redis 已经说成功。Redis profile 未启用时，内存实现帮助理解流程；多实例才需要共享 Redis。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当前项目通过 afterCommit 让外部事件只在主事务成功后发布。异步不是把方法加个注解就结束，还要考虑线程池耗尽、异常丢失、重试和可观察性。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定时任务需要时区和 cron 配置，不能把时间写死。批处理要分批，任务结果要可观察。Actuator 端点是排查服务状态的入口，不是业务接口。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附件是一个很好的工程化案例：数据库事务不能回滚文件系统，所以要设计补偿。真实生产环境通常会使用对象存储，但学习阶段先理解边界和失败处理。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RBAC 不是只有 hasRole。角色判断解决功能入口，userId 过滤解决资源归属。测试必须覆盖未登录、普通用户、管理员、别人资源四类情况。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Service 测试关注业务，不需要启动真实数据库；API 测试关注外部契约。两者组合起来，既能快速反馈业务错误，也能保护前端真正依赖的 HTTP 行为。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不要把 JPA 当成性能黑盒。方法名生成的 SQL 仍要经过数据库执行计划。优化必须有前后对比，至少记录数据量、参数、耗时和执行计划。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容器是运行环境打包工具，不会自动让代码正确。当前默认 H2 的设计是为了先学习 Java 和 Spring，等需要验证 PostgreSQL 方言、索引和连接池时再切换。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 Kafka Consumer 使用 RetryableTopic，失败抛异常才会触发重试。Kafka 消息可能重复投递，handler 必须根据 messageId 做幂等；DLT 是失败消息的最后落点，不是自动修复。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RabbitMQ 的关键不是只记 Exchange 和 Queue，而是理解 ACK 和重试的时间点。当前配置让失败消息在重试耗尽后进入死信链路；消费者要能安全处理重复消息。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28 周要把知识串起来。建议选择创建 Todo 这个请求作为主线，逐层讲解；再故意制造校验失败、权限失败、数据库失败和消息失败，观察系统如何响应。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d9ca99ef1940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e1d636ea5a4e0f" /><Relationship Type="http://schemas.openxmlformats.org/officeDocument/2006/relationships/slideLayout" Target="/ppt/slideLayouts/slideLayout1.xml" Id="Rb37ddb9205af4e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7ddb9205af4e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0476f3ab8948bc" /><Relationship Type="http://schemas.openxmlformats.org/officeDocument/2006/relationships/notesSlide" Target="/ppt/notesSlides/notesSlide1.xml" Id="R98731cb7bb764a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1ad66d5a144cd" /><Relationship Type="http://schemas.openxmlformats.org/officeDocument/2006/relationships/notesSlide" Target="/ppt/notesSlides/notesSlide2.xml" Id="R97adba8292c34b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a119fcdfa04915" /><Relationship Type="http://schemas.openxmlformats.org/officeDocument/2006/relationships/notesSlide" Target="/ppt/notesSlides/notesSlide3.xml" Id="Rbc315de1998348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603fad16be47e7" /><Relationship Type="http://schemas.openxmlformats.org/officeDocument/2006/relationships/notesSlide" Target="/ppt/notesSlides/notesSlide4.xml" Id="Ra7f3b3e98ae740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efeeb258148a1" /><Relationship Type="http://schemas.openxmlformats.org/officeDocument/2006/relationships/notesSlide" Target="/ppt/notesSlides/notesSlide5.xml" Id="R0d5423d7d0d74a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3ec6d85654895" /><Relationship Type="http://schemas.openxmlformats.org/officeDocument/2006/relationships/notesSlide" Target="/ppt/notesSlides/notesSlide6.xml" Id="Rffb61d784a8847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0a4b40fce94430" /><Relationship Type="http://schemas.openxmlformats.org/officeDocument/2006/relationships/notesSlide" Target="/ppt/notesSlides/notesSlide7.xml" Id="Rd7c5570c933545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aff1d8ebfc42f8" /><Relationship Type="http://schemas.openxmlformats.org/officeDocument/2006/relationships/notesSlide" Target="/ppt/notesSlides/notesSlide8.xml" Id="Re168a6ce6ad842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49e222366a4428" /><Relationship Type="http://schemas.openxmlformats.org/officeDocument/2006/relationships/notesSlide" Target="/ppt/notesSlides/notesSlide9.xml" Id="Re81197fa295a4cf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3327f838b46c7" /><Relationship Type="http://schemas.openxmlformats.org/officeDocument/2006/relationships/notesSlide" Target="/ppt/notesSlides/notesSlide10.xml" Id="R6fece823d3de42c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6ecce470541dd" /><Relationship Type="http://schemas.openxmlformats.org/officeDocument/2006/relationships/notesSlide" Target="/ppt/notesSlides/notesSlide11.xml" Id="R4b78adb8cb114ac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9cddef745e4f6f" /><Relationship Type="http://schemas.openxmlformats.org/officeDocument/2006/relationships/notesSlide" Target="/ppt/notesSlides/notesSlide12.xml" Id="R712f877eeeaf472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f81ab715c54b5b" /><Relationship Type="http://schemas.openxmlformats.org/officeDocument/2006/relationships/notesSlide" Target="/ppt/notesSlides/notesSlide13.xml" Id="R57aed735160f464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d3ebe7b0404a12" /><Relationship Type="http://schemas.openxmlformats.org/officeDocument/2006/relationships/notesSlide" Target="/ppt/notesSlides/notesSlide14.xml" Id="R04006823aa334d2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5e2add82c641ac" /><Relationship Type="http://schemas.openxmlformats.org/officeDocument/2006/relationships/notesSlide" Target="/ppt/notesSlides/notesSlide15.xml" Id="R43a1e6abc81f483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62a1ac552f45f4" /><Relationship Type="http://schemas.openxmlformats.org/officeDocument/2006/relationships/notesSlide" Target="/ppt/notesSlides/notesSlide16.xml" Id="Rb10907553f1746c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2077bc94c44694" /><Relationship Type="http://schemas.openxmlformats.org/officeDocument/2006/relationships/notesSlide" Target="/ppt/notesSlides/notesSlide17.xml" Id="R8749986f03ba4fd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bac9071ef14541" /><Relationship Type="http://schemas.openxmlformats.org/officeDocument/2006/relationships/notesSlide" Target="/ppt/notesSlides/notesSlide18.xml" Id="Rc325b0eaf6934f7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eed8bce43640c3" /><Relationship Type="http://schemas.openxmlformats.org/officeDocument/2006/relationships/notesSlide" Target="/ppt/notesSlides/notesSlide19.xml" Id="Rdaf970cbf7774aa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08ebfe21445b8" /><Relationship Type="http://schemas.openxmlformats.org/officeDocument/2006/relationships/notesSlide" Target="/ppt/notesSlides/notesSlide20.xml" Id="Rec6fab3dbe5f4e5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f9835781c4ae0" /><Relationship Type="http://schemas.openxmlformats.org/officeDocument/2006/relationships/notesSlide" Target="/ppt/notesSlides/notesSlide21.xml" Id="R71bb27246ca9468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822e75a354a7c" /><Relationship Type="http://schemas.openxmlformats.org/officeDocument/2006/relationships/notesSlide" Target="/ppt/notesSlides/notesSlide22.xml" Id="Rf4ce3d3d0d6d430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62ab6b9f8a4d96" /><Relationship Type="http://schemas.openxmlformats.org/officeDocument/2006/relationships/notesSlide" Target="/ppt/notesSlides/notesSlide23.xml" Id="Rb4cd854c540d44f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4699f54b9e47ca" /><Relationship Type="http://schemas.openxmlformats.org/officeDocument/2006/relationships/notesSlide" Target="/ppt/notesSlides/notesSlide24.xml" Id="Rb9a8d0c195024e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3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7C1CBB-73EE-47C1-8212-F9BB6090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916A9E-6FBC-463D-9C3B-61617C4D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66800"/>
            <a:ext cx="666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java-todo-api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技术细节学习路线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3171B3-923F-4B65-91F9-1FBB102C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7D5D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7D5DB"/>
                </a:solidFill>
                <a:latin typeface="Arial"/>
                <a:ea typeface="Arial"/>
                <a:cs typeface="Arial"/>
              </a:rPr>
              <a:t>个人使用版 · Java 21 · Spring Boot 3 · JPA · JWT · Redis · Kafka · RabbitMQ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67A06B-9C7A-4E48-89C0-5C7D9068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671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目标：不只知道“是什么”，还能从代码、配置、请求和故障中解释“为什么”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8EB1D-CC27-48B9-81F1-DC97D871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19200"/>
            <a:ext cx="2571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00F979-1BEE-4F41-8DC5-216FADDD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3525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代码路径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A006E9-2044-4168-9EBB-ED369F70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192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知道去哪个文件看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747866-BA86-4D15-BBF4-14E490C3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09800"/>
            <a:ext cx="2571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FD2C20-E471-4D24-8A45-083E267D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431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运行命令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2CF4D3-1A7A-48EE-BF77-062CDA46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098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知道如何启动和验证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D80C60-D6D8-4DA4-8C2C-39546B20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00400"/>
            <a:ext cx="2571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B5B3EC-FFCE-4D58-BF89-1A180517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设计取舍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F01069-1342-4171-A0FE-F54DA733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004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知道何时使用、何时不用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6E2567-8E90-43D7-9636-B65B258A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91000"/>
            <a:ext cx="2571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8464D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882921-A6BF-4238-BA97-0672AFE5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243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失败处理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AB5AA9-20F2-4F9C-A0B9-ACCCFAB2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910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知道异常、重试和补偿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CABD24-1FC3-45C4-B712-158148F9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38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8EA4A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EA4AE"/>
                </a:solidFill>
                <a:latin typeface="Arial"/>
                <a:ea typeface="Arial"/>
                <a:cs typeface="Arial"/>
              </a:rPr>
              <a:t>建议：打开 PPT 的同时打开项目源码，边读边运行</a:t>
            </a:r>
          </a:p>
        </p:txBody>
      </p:sp>
    </p:spTree>
    <p:extLst>
      <p:ext uri="{BB962C8B-B14F-4D97-AF65-F5344CB8AC3E}">
        <p14:creationId xmlns:p14="http://schemas.microsoft.com/office/powerpoint/2010/main" val="12597824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FD08B3-3955-40E9-AD11-FC97FC16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学习方法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786F13-5691-4208-8894-5762C1F5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如何使用这份技术版 PPT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4B1E56-2227-411B-8510-37C7EEE8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1CFB67-3EB0-4B76-90BE-00A20D56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3849BC-D93D-43CB-B06B-F6344CB2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每个知识点都按“概念 → 项目代码 → 运行验证 → 失败复盘”学习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038A02-F1F8-426C-97B7-CDFAB014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2190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A89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284629-C8DC-4771-8AE4-E938B785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25CCC7-C10B-4AFF-BC6C-7EFFEC9E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6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D96328-D44D-4848-A011-AAB19BCF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90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先问问题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D61C88-C262-4AD9-89CD-9B58E795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4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例如：为什么 Controller 不能直接操作 Repository？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6D9AC9-D18A-4C1B-BF46-7925CB2F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9080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6AFBC2-C1BA-44BB-9006-6958A784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62150"/>
            <a:ext cx="2190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F7C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5CB2B2-5C00-4049-85BA-DF40E1E3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34268F-3452-4662-868C-87046E5E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4790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6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431E3A-68E3-484C-8B0C-C35C9E19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190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定位文件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2BC74C-A3AE-4C6A-B134-BB564FE6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670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从 controller → service → repository 跟一条请求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38DD2A-7AC0-4FCE-A96A-B674DF36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9080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588924-4564-45B9-9488-7DB6FEA8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62150"/>
            <a:ext cx="2190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9A3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924F60-3041-49DF-9AFA-5F2E4F20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52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66AC9B-A5CB-4354-AF1C-D4785812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4790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6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DDD904-7F36-4901-B1E4-E4A06043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90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做最小实验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D1F725-C5A2-4864-99AB-6E17F397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670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改一个参数、加一条日志、跑一条测试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89A04B-1B8E-4500-B34F-81D95097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9080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26F880-084B-4432-AC7F-2F260BE0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62150"/>
            <a:ext cx="2190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464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FD332A-511F-456F-8FC9-327284F5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52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464D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0147DF-384A-405F-A90E-C1F6C74F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4790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6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99BA72-1337-4100-A124-E189B62F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90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记录结论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9B227C-BA56-4874-BCC4-8C6A534A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670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写清现象、原因、修改和遗留风险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26D89F-44E6-4E72-9FE2-EB2F86CC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每 2 小时建议这样分配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06FC33-C9BE-4F55-BFDF-222A77BC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43350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35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E2D38"/>
                </a:solidFill>
                <a:latin typeface="Arial"/>
                <a:ea typeface="Arial"/>
                <a:cs typeface="Arial"/>
              </a:rPr>
              <a:t>20 分钟：读本页技术点和当前项目代码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35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E2D38"/>
                </a:solidFill>
                <a:latin typeface="Arial"/>
                <a:ea typeface="Arial"/>
                <a:cs typeface="Arial"/>
              </a:rPr>
              <a:t>60 分钟：只实现一个小改动，例如新增一个查询条件或一条测试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35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E2D38"/>
                </a:solidFill>
                <a:latin typeface="Arial"/>
                <a:ea typeface="Arial"/>
                <a:cs typeface="Arial"/>
              </a:rPr>
              <a:t>25 分钟：运行 mvn test 或指定测试类，观察日志和异常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35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E2D38"/>
                </a:solidFill>
                <a:latin typeface="Arial"/>
                <a:ea typeface="Arial"/>
                <a:cs typeface="Arial"/>
              </a:rPr>
              <a:t>15 分钟：写 docs 复盘，记录“我现在能解释什么”</a:t>
            </a:r>
          </a:p>
        </p:txBody>
      </p:sp>
    </p:spTree>
    <p:extLst>
      <p:ext uri="{BB962C8B-B14F-4D97-AF65-F5344CB8AC3E}">
        <p14:creationId xmlns:p14="http://schemas.microsoft.com/office/powerpoint/2010/main" val="19191311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85CC43-A9AE-46CC-9B8D-74B3F306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项目导航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869B77-BFB9-4C3D-BF6D-D23CC5C4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当前项目快照：你已经拥有的工程骨架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920E09-F52D-4970-AF31-BE0F227A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FCF0F1-09C5-4FA9-A97D-0FB84E65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9F693C-9F23-4BDA-BEB7-A9259D41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先认识文件职责，后面每一周都在这棵树上增加能力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AFB49B-5968-44EB-998D-CEB0FB28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5381625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459DC9-C5DB-4FC8-B532-73AE301E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571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6E642E-5B96-4509-91D9-9C711A6A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9775"/>
            <a:ext cx="5076825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src/main/java/com/zading/todoapi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├── controller/       HTTP 路由、参数、状态码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├── service/          业务规则、事务边界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├── repository/       Spring Data JPA 查询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├── model/            Entity、枚举、领域数据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├── dto/              请求和响应模型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├── mapper/           Entity ↔ DTO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├── security/         JWT Filter、SecurityConfig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├── redis/            缓存保护、幂等、限流、锁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├── messaging/        内存、Kafka、RabbitMQ 适配器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├── event/            Spring 事件和异步处理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└── exception/        错误码、业务异常、全局处理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224CCC-E254-4DDC-AF57-B4C95664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85950"/>
            <a:ext cx="4743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5F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A46966-02C7-4304-93A2-28DBB5B1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859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896A01-52DD-4908-A928-6FFC287E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38350"/>
            <a:ext cx="436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默认可以运行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7AE306-959E-46F3-AC06-E7D96CA9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00300"/>
            <a:ext cx="436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724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application.properties 使用 H2 文件数据库、Simple Cache、内存消息发布器；不要求本机先安装 PostgreSQL、Redis、Kafka、RabbitMQ 或 Docker。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1F7B09-12E8-4D00-A836-98A9BAB8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38500"/>
            <a:ext cx="4743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0B98D3-877D-4FFB-8020-5C35C5EA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385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6E3481-9B4A-48AF-8C95-0F31A667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90900"/>
            <a:ext cx="436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真实服务通过 Profile 切换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EC330E-33F5-4771-9F45-CAC8CF2D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52850"/>
            <a:ext cx="436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615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application-postgres.properties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application-redis.properties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application-kafka.properties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application-rabbitmq.properties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AFCAC7-66F7-4514-BD02-57287395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91050"/>
            <a:ext cx="47434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5F1BEC-9CB7-4C8A-A8D3-84EDEC73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91050"/>
            <a:ext cx="666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8AEC41-34A9-4576-89F2-02D2B0F0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743450"/>
            <a:ext cx="436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阅读顺序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0965B8-77D9-4ADA-9560-D22338D3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105400"/>
            <a:ext cx="436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1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先看 Controller 找入口，再看 Service 找规则，最后看 Repository 和 migration 找数据结构。</a:t>
            </a:r>
          </a:p>
        </p:txBody>
      </p:sp>
    </p:spTree>
    <p:extLst>
      <p:ext uri="{BB962C8B-B14F-4D97-AF65-F5344CB8AC3E}">
        <p14:creationId xmlns:p14="http://schemas.microsoft.com/office/powerpoint/2010/main" val="15891798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CA66CC-1B8A-4759-A5BB-1A274E73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0｜环境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5DF93-34E6-4D87-9EF6-0AA872FE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JDK 21、Maven 与项目运行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C27015-1468-4345-99D5-D9E15FF4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70DD9B-331A-45E1-8956-7C8B01D1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4C1227-F846-45A7-9B8D-F86C8ACD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先把“我能否编译、测试、启动”变成每天都能重复的动作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932479-BA14-4809-B828-712AD278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常用命令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1EC0CE-D3C0-4391-9540-45B583E9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4762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0E3DE5-8239-442B-ACAB-CD291A11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E9E743-ACB3-47C5-BDBB-07359536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71725"/>
            <a:ext cx="44577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java -version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mvn -version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mvn test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mvn -Dtest=TodoServiceTest test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mvn spring-boot:run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mvn clean package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java -jar target/java-todo-api-1.0.0.jar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7F039C-B6E7-40CA-B384-3D26277B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478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命令分别验证什么？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6F338D-F0B4-4071-A4FC-C5C8551B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java -version：确认 IDE 和终端使用的 JDK 版本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mvn -version：确认 Maven 使用的是哪个 Java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mvn test：验证所有单元测试和接口测试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spring-boot:run：直接启动开发应用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clean package：清理旧产物并生成可执行 JAR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FD45B3-4335-4245-B7F3-E0E3D15A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81500"/>
            <a:ext cx="4762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0D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115FBB-BA4F-4C96-A787-EFD73F16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720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09A3E"/>
                </a:solidFill>
                <a:latin typeface="Arial"/>
                <a:ea typeface="Arial"/>
                <a:cs typeface="Arial"/>
              </a:rPr>
              <a:t>本项目的个人验收线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4791FA-F6C3-43A2-A838-0E515881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530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02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32E"/>
                </a:solidFill>
                <a:latin typeface="Arial"/>
                <a:ea typeface="Arial"/>
                <a:cs typeface="Arial"/>
              </a:rPr>
              <a:t>能启动；能注册/登录；能创建和查询 Todo；mvn test 通过；能解释失败日志。</a:t>
            </a:r>
          </a:p>
        </p:txBody>
      </p:sp>
    </p:spTree>
    <p:extLst>
      <p:ext uri="{BB962C8B-B14F-4D97-AF65-F5344CB8AC3E}">
        <p14:creationId xmlns:p14="http://schemas.microsoft.com/office/powerpoint/2010/main" val="11921302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78191E-F832-4FA6-AB4C-FA94FB9D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1｜JAVA 基础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20A7F8-E277-4CD0-9FB1-8CF25E7B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第 1–3 周：从对象到可测试的分层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357BCE-5852-46AB-982C-A1338D05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D2EBB4-B377-4003-B513-4FE0BC33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9263FB-0D8D-44F7-8684-1C4430C2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基础知识直接落到 Todo：数据是对象，行为进 Service，存储通过接口替换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15E06C-4447-44D9-8B82-CB7C7E26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8577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50AB37-EED8-415B-A338-FB8D2662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71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99ABBB-B6F0-4607-B7DE-1713BB76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55295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public class Todo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private Long id;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private String title;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private boolean completed;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public void complete()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this.completed = true;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}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public interface TodoRepository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Todo save(Todo todo);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List&lt;Todo&gt; findAll();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50B9BD-AA80-463C-815D-4BA45C07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你要真正理解的点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BD37C3-4DDC-4AD5-A55F-7BF43C66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62200"/>
            <a:ext cx="4667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private：调用方不能随意改字段，状态变化通过方法表达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complete()：把“完成”变成业务行为，而不是到处 setCompleted(true)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interface：Service 只依赖能力，不绑定内存或数据库实现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List&lt;Todo&gt;：泛型让集合元素类型在编译期可检查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异常：找不到任务、标题为空都要有明确失败路径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43B651-1334-4807-B9DD-F0275B10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76750"/>
            <a:ext cx="4667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5AB95A-42EF-4E8F-9714-C3B61592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291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前端迁移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1D8D8D-3D59-46F4-9877-370B5EAF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530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8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32E"/>
                </a:solidFill>
                <a:latin typeface="Arial"/>
                <a:ea typeface="Arial"/>
                <a:cs typeface="Arial"/>
              </a:rPr>
              <a:t>函数 → 方法；模块 → package；npm → Maven；错误回调 → 异常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0AD5F5-A11F-46A1-AF0F-571005D2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0717C"/>
                </a:solidFill>
                <a:latin typeface="Arial"/>
                <a:ea typeface="Arial"/>
                <a:cs typeface="Arial"/>
              </a:rPr>
              <a:t>验收：能不看提示写出 Todo、接口、List 操作和一个自定义异常。</a:t>
            </a:r>
          </a:p>
        </p:txBody>
      </p:sp>
    </p:spTree>
    <p:extLst>
      <p:ext uri="{BB962C8B-B14F-4D97-AF65-F5344CB8AC3E}">
        <p14:creationId xmlns:p14="http://schemas.microsoft.com/office/powerpoint/2010/main" val="15361332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CE3E05-BE75-4B32-B0F9-496ED1E3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2｜WEB 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39C16D-D06D-4E63-BE91-B8401A25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Controller：HTTP 入口只做三件事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5A748D-8BAD-41BB-BD42-340FF7F6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0145A5-A892-479D-A6B2-E0BABB23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3807DF-2C57-45A3-96F4-B37DCD24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以当前 TodoController 为例：接收请求、调用 Service、组装响应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7B5E78-83AA-4F85-878E-A65CE506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715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96E86E-A591-4AA6-815F-68BF2D2B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71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69E40D-6CA8-4E2F-AC96-68DDD4F2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54102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@PostMapping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public ResponseEntity&lt;ApiResponse&lt;TodoResponse&gt;&gt; createTodo(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@AuthenticationPrincipal AuthenticatedUser user,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@Valid @RequestBody CreateTodoRequest request,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@RequestHeader(name = "Idempotency-Key",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              required = false) String key)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Todo todo = todoService.addTodo(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user.getId(), request.getTitle(),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request.getPriority(), request.getDueDate(), key);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return ResponseEntity.created(location(todo))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.body(ApiResponse.created(todoMapper.toResponse(todo)));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38F030-547C-4506-B83D-FDBEED1F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240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逐行看责任边界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A30D0B-7D7C-49CD-BD24-453CA538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62200"/>
            <a:ext cx="4095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6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@PostMapping：把 POST /api/todos 映射到方法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6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@AuthenticationPrincipal：从 SecurityContext 取当前用户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6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@Valid：先执行 DTO 上的 Bean Validation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6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@RequestBody：JSON 反序列化为 CreateTodoRequest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6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Service 接收业务参数，不接收 HttpServletRequest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6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Mapper 把 Entity 转成 TodoResponse，避免暴露数据库对象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DBDF5A-F98A-4847-89EF-6945A398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62500"/>
            <a:ext cx="4095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B75C7E-4382-4554-AA13-6B63B6C9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933950"/>
            <a:ext cx="3695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90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不要放在 Controller：事务、复杂权限、重复查询、数据库写入细节</a:t>
            </a:r>
          </a:p>
        </p:txBody>
      </p:sp>
    </p:spTree>
    <p:extLst>
      <p:ext uri="{BB962C8B-B14F-4D97-AF65-F5344CB8AC3E}">
        <p14:creationId xmlns:p14="http://schemas.microsoft.com/office/powerpoint/2010/main" val="7979858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09DE01-6871-431B-B9DE-F1EDE4C3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2｜数据访问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1605C-C322-4A6B-99D3-B797D935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JPA：方法名如何变成查询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3E26A-0C9B-4F6B-955B-D40038DD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5C527-D61B-4C48-802D-013EA280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416F41-32FC-437A-8B3F-EE88B9FF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Repository 不是魔法：方法名中的 And、Containing、False 会参与生成查询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197CD7-22C6-4CCC-B803-9380CC2E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143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C33165-1836-4CF6-8351-67AC70A1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C33AB3-C5FD-4790-A5D8-EEBE210F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8387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Page&lt;Todo&gt; findByUserIdAndCompletedAndDeletedFalse(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Long userId,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boolean completed,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Pageable pageable);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Page&lt;Todo&gt; findByUserIdAndTitleContainingIgnoreCase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AndDeletedFalse(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Long userId, String keyword, Pageable pageable);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4DA8D9-6857-4FD8-9764-2CA605B7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可以翻译成接近这样的 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798F9E-CBD2-4F81-B060-941394BF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5143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D430E5-90F0-4D83-A023-BBA0663B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15163E-BCC4-49A7-8B11-26386C44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62475"/>
            <a:ext cx="4838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30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select *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+from todos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+where user_id = ?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+  and completed = ?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+  and deleted = false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+order by id asc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+limit ? offset ?;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5817EA-F88D-4BC2-AB23-7A2FD463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240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阅读和排错要点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8E3630-EDA7-48A7-913E-D6C7B238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62200"/>
            <a:ext cx="4476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92685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Page&lt;Todo&gt;：结果不仅有 content，还有 totalElements、totalPages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Pageable：页码从 0 开始；size 要限制上限，避免一次返回太多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Containing：通常对应模糊匹配；数据量大时要关注索引利用率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DeletedFalse：软删除后的默认列表不会返回 deleted = true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userId 必须参与条件，防止用户读取别人的 Todo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88A489-3109-4A00-8186-C311FFF3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29150"/>
            <a:ext cx="4476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0D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2092A0-773C-4BDB-AAF3-B8CAB6CB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006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09A3E"/>
                </a:solidFill>
                <a:latin typeface="Arial"/>
                <a:ea typeface="Arial"/>
                <a:cs typeface="Arial"/>
              </a:rPr>
              <a:t>练习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956C0C-DDB0-4B40-89CF-6E27CEC7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4350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3232E"/>
                </a:solidFill>
                <a:latin typeface="Arial"/>
                <a:ea typeface="Arial"/>
                <a:cs typeface="Arial"/>
              </a:rPr>
              <a:t>给 findBy... 方法写出等价 SQL，再用 SQL 日志确认 Hibernate 的实际查询。</a:t>
            </a:r>
          </a:p>
        </p:txBody>
      </p:sp>
    </p:spTree>
    <p:extLst>
      <p:ext uri="{BB962C8B-B14F-4D97-AF65-F5344CB8AC3E}">
        <p14:creationId xmlns:p14="http://schemas.microsoft.com/office/powerpoint/2010/main" val="3110230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5E1179-6465-4460-A87C-7DA24B8F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2｜接口契约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0A6DC1-51E0-454A-AC96-FC65D12F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DTO 与校验：保护接口输入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D62073-FD38-40AF-A2D4-1D6EFCD7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942FAA-03F7-4CA7-9833-42DD367E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064BFD-5C07-4466-B0C1-A1C3C163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DTO 是接口边界；Entity 是数据库模型，两者分开才能独立演进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B88276-E54E-401D-935C-AFA3FE5F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953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5F2087-286C-4A9F-BA05-6100A612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45964F-40CD-4B97-8FE2-A67EFEB8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6482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public class CreateTodoRequest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@NotBlank(message = "title 不能为空")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@Size(max = 200, message = "title 不能超过 200 个字符")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private String title;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private TodoPriority priority;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private LocalDate dueDate;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4F4C33-4713-4181-89C4-99495DF2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请求 → 校验 → 业务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113AAA-6B71-4C82-9724-058ED045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1333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F7C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EE9814-FC5A-467C-B350-752F76B8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JSON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5EFE88-FDB8-4330-878B-B1629A3E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F7CFF"/>
                </a:solidFill>
                <a:latin typeface="Arial"/>
                <a:ea typeface="Arial"/>
                <a:cs typeface="Arial"/>
              </a:rPr>
              <a:t>title = "  "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32C49A-EBE6-4E88-93FC-3C0C459E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810125"/>
            <a:ext cx="1905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1BD2FD-3C5D-4EB5-A5C0-FD40965A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33900"/>
            <a:ext cx="1333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9A3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B54708-D39A-4109-8A3E-FBD6C51D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6672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@Valid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12F1C5-0C50-4694-9E80-FE786940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530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4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09A3E"/>
                </a:solidFill>
                <a:latin typeface="Arial"/>
                <a:ea typeface="Arial"/>
                <a:cs typeface="Arial"/>
              </a:rPr>
              <a:t>400 BAD_REQUEST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013868-362C-460A-8ED5-48A89231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810125"/>
            <a:ext cx="1905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00A866-8F23-4D2F-B603-EB6F1DF4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533900"/>
            <a:ext cx="1333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A89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2D6A94-EDFA-4F05-A216-E6A32301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6672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Service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17E422-2AF5-434C-9FAC-04630CB7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9530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2A892"/>
                </a:solidFill>
                <a:latin typeface="Arial"/>
                <a:ea typeface="Arial"/>
                <a:cs typeface="Arial"/>
              </a:rPr>
              <a:t>只处理合法输入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18D9A3-0564-40EE-829A-DD8FA1EA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240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个人练习顺序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E56EA7-6048-482F-BE6B-327851AE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62200"/>
            <a:ext cx="4476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先发 title 缺失、空格、超长三种请求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观察 GlobalExceptionHandler 返回的错误码和 path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再给 UpdateTodoRequest 增加字段级规则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确保 Service 不依赖 HTTP 校验才能保证核心规则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5BAE29-A149-4E96-AE35-E8EA1D58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48150"/>
            <a:ext cx="44767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F9B53D-6638-4C38-BA4D-7B01C57A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386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为什么不能直接返回 Entity？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3D0C1C-4411-4A6A-BC54-30F9A527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1965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4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3232E"/>
                </a:solidFill>
                <a:latin typeface="Arial"/>
                <a:ea typeface="Arial"/>
                <a:cs typeface="Arial"/>
              </a:rPr>
              <a:t>Entity 里可能有 user、deleted、内部版本号等字段。DTO 让响应只暴露前端需要的内容，也避免懒加载问题。</a:t>
            </a:r>
          </a:p>
        </p:txBody>
      </p:sp>
    </p:spTree>
    <p:extLst>
      <p:ext uri="{BB962C8B-B14F-4D97-AF65-F5344CB8AC3E}">
        <p14:creationId xmlns:p14="http://schemas.microsoft.com/office/powerpoint/2010/main" val="9713751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3E1360-885D-4139-912A-5C140C14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2｜认证授权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3662A-0FFA-4059-A175-36383520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JWT 请求链路：401 和 403 到底区别是什么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9EF334-9DEF-43A1-9A40-622A66A1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261792-D235-4200-8EA5-5CAF108F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DA1DF7-0B29-4CE6-B67E-AB53F3C3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JWT 解决“你是谁”；权限规则解决“你能做什么”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A4A530-E9C8-4A04-9809-2497BC75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1336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F7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D5171D-FEC0-459A-9EC7-94F17D88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Authorization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3273FB-AD3C-4C15-8E69-19DBFED4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F7CFF"/>
                </a:solidFill>
                <a:latin typeface="Arial"/>
                <a:ea typeface="Arial"/>
                <a:cs typeface="Arial"/>
              </a:rPr>
              <a:t>Bearer eyJ...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6C6F85-A960-4DCB-A088-6EC84E36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05050"/>
            <a:ext cx="342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DEB35D-9444-4F56-9F95-CEEB98B0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43100"/>
            <a:ext cx="21336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A89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D13C58-0F33-4DF8-A8C6-C43C9ABB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145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JwtFilter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288891-6AF0-49E3-A0AF-64729AC7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574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2A892"/>
                </a:solidFill>
                <a:latin typeface="Arial"/>
                <a:ea typeface="Arial"/>
                <a:cs typeface="Arial"/>
              </a:rPr>
              <a:t>解析、验签、过期检查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E16CEB-C4F8-43C2-A77E-390D8B7D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305050"/>
            <a:ext cx="342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8EB5E3-4044-4C4C-B38B-4D824600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43100"/>
            <a:ext cx="21336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9A3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D9208C-47BE-4E0B-960B-A5FD31DE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145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SecurityContext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7CC87B-870C-49C0-AF86-389C2A83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574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09A3E"/>
                </a:solidFill>
                <a:latin typeface="Arial"/>
                <a:ea typeface="Arial"/>
                <a:cs typeface="Arial"/>
              </a:rPr>
              <a:t>放入 AuthenticatedUser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70D5DA-C80B-42BB-B083-1EBE1EE9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05050"/>
            <a:ext cx="342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2624BE-FF0E-455E-90AD-9174C3CC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43100"/>
            <a:ext cx="21336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464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1CA418-734A-4897-8D22-50CA1AF9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145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Controller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06DC5C-53E7-471A-A10E-6C290E1B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574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8464D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464D8"/>
                </a:solidFill>
                <a:latin typeface="Arial"/>
                <a:ea typeface="Arial"/>
                <a:cs typeface="Arial"/>
              </a:rPr>
              <a:t>读取当前 userId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D00EC8-4389-47DA-A02E-BB404A12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334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A99FDC-12FD-4109-8E7D-D4B85F2A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0037BD-4BED-4A93-80B9-A2E93A53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52825"/>
            <a:ext cx="50292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if (!authHeader.startsWith("Bearer "))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filterChain.doFilter(request, response);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return;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}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String token = authHeader.substring(7);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String username = jwtService.extractUsername(token);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if (jwtService.isTokenValid(token, username, user.getRole()))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SecurityContextHolder.getContext()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.setAuthentication(authentication);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AA0FF9-8276-4078-9358-306BE858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290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状态码要记住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7C1C09-45A3-4521-AF9D-72886183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48100"/>
            <a:ext cx="4267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C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5B48FE-2F01-4E6A-A0CC-515103C0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48100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459903-C3EC-4F8C-9CA5-E5148EC1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000500"/>
            <a:ext cx="388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401 Unauthorized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D8C8EF-8177-43FF-8DC8-0CC7DC9D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362450"/>
            <a:ext cx="38862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378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没有 Token、Token 无效或已过期；先登录。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8644E5-CE23-49D4-9BF5-ECB70F90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05350"/>
            <a:ext cx="4267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8E8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754062-0D4A-471A-883C-6693FDC3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05350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868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881CB8-F7CF-4F34-B872-64BC0A14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857750"/>
            <a:ext cx="388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403 Forbidden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38E020-AA09-45B3-9A81-09E11292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219700"/>
            <a:ext cx="38862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378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身份已识别，但角色不允许访问，例如 USER 访问 /api/admin。</a:t>
            </a:r>
          </a:p>
        </p:txBody>
      </p:sp>
    </p:spTree>
    <p:extLst>
      <p:ext uri="{BB962C8B-B14F-4D97-AF65-F5344CB8AC3E}">
        <p14:creationId xmlns:p14="http://schemas.microsoft.com/office/powerpoint/2010/main" val="4835459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146CBB-BEF6-4E5B-872D-091AA976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2｜工程配置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603332-FBF6-4F96-8541-4B04844F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Profile、H2 与 Flyway：配置和数据结构如何演进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09F8EE-3477-4F65-952A-56A8A888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2654D9-D8D0-4E6F-A5CA-9DC9A65F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D97CA3-53CE-4E95-ABBE-55D17595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默认运行不依赖外部数据库；切换真实数据库时，只替换配置和驱动连接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B0A7F4-8A42-4474-9DF3-FD4BCC22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143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FB912E-1522-4470-9AEE-C6F67931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E8D0E4-6FF0-414C-92EE-58075010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8387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# application.properties（默认）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spring.datasource.url=jdbc:h2:file:./data/todo-db-v2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spring.jpa.hibernate.ddl-auto=validate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spring.flyway.enabled=true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# 真实 PostgreSQL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spring.profiles.active=postgres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spring.datasource.url=jdbc:postgresql://localhost:5432/todo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228795-22EF-4BF6-8999-21F33B35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为什么 ddl-auto=validate？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A037B4-709B-4927-9F6A-E9465970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6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JPA 只检查 Entity 和表是否匹配，不偷偷改表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6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所有结构变化写进 db/migration/Vx__*.sql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6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V1 到 V9 按版本顺序执行，适合团队协作和部署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5ECA66-19ED-40E3-9615-F3D5D3E8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当前迁移链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A2C2A9-2C69-418B-8B7B-09EC36CC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A6A145-3E0E-4052-A147-7C147666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2887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V1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E79154-9C0A-4C6F-84FB-2D7A9F46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193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todos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E774D2-199B-43A2-9C1C-B7F7B1E9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38450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5A98A1-2D1D-460E-8853-A3F66E83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8607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V2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7F79BD-36ED-4CB7-BE45-42B3B54D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765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priority / due_date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D46AB1-BC26-4A58-8777-025A4705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95650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2C7171-3F6A-4167-A16E-69457B24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4327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V3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B0163B-2995-4AB0-9071-D19229BA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337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users + user_id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29B905-60DC-40CF-A837-0EA073AC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52850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3AAE17-018B-4CCE-BFD1-10ECCC45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0047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V4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3438C6-83B5-4333-9BBE-E0707D7A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909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deleted / deleted_at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FB7384-2DF4-41A1-A276-F623F598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10050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0DC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27A9D2-4FF7-463D-A5CA-55CFDA05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5767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09A3E"/>
                </a:solidFill>
                <a:latin typeface="Arial"/>
                <a:ea typeface="Arial"/>
                <a:cs typeface="Arial"/>
              </a:rPr>
              <a:t>V5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6B0993-3B6C-4B8C-920E-7DEDB366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481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action_logs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B46A4E-ED49-4649-A70B-2C66387F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67250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0DC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579564-122F-49BF-8F7A-A6B0D382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1487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09A3E"/>
                </a:solidFill>
                <a:latin typeface="Arial"/>
                <a:ea typeface="Arial"/>
                <a:cs typeface="Arial"/>
              </a:rPr>
              <a:t>V6–V9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9E44CC-D1A6-442E-88E4-1BE6BE98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053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attachments / role / indexes / constraints</a:t>
            </a:r>
          </a:p>
        </p:txBody>
      </p:sp>
    </p:spTree>
    <p:extLst>
      <p:ext uri="{BB962C8B-B14F-4D97-AF65-F5344CB8AC3E}">
        <p14:creationId xmlns:p14="http://schemas.microsoft.com/office/powerpoint/2010/main" val="75948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EE8419-09DF-4FE4-8A39-EC7C8891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3｜工程基础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055170-B643-46FF-96A8-A109580B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统一响应与全局异常：让前端稳定处理失败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CF22F0-8112-4C72-BAA5-F9277C25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F2275C-2609-4344-88E7-C686847A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BE85DE-F61A-4A37-8739-7D95FAE5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异常不是打印堆栈就结束；要把内部异常转换成稳定、可识别的 API 契约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381EC-6494-4FC7-999E-D62BEA10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857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8D87E8-C798-4CE9-B4AF-1602317B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86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9FCC0A-8273-4447-895E-603190B3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5529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"success": false,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"code": "TODO_NOT_FOUND",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"message": "Todo 不存在",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"path": "/api/todos/99",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"timestamp": "2026-09-15T10:00:00"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5A5FE8-2B13-4876-973F-31A9F541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异常处理映射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82CE15-5735-4183-A73A-42EE9EFB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2A892"/>
                </a:solidFill>
                <a:latin typeface="Arial"/>
                <a:ea typeface="Arial"/>
                <a:cs typeface="Arial"/>
              </a:rPr>
              <a:t>MethodArgumentNotValidException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A9397B-B37C-44DB-95F3-000CD614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053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字段校验失败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3DD1DA-C0EB-4B7A-8ED8-D93AF5C4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67250"/>
            <a:ext cx="552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166AC2-8988-4674-AD13-82EAE359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7148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9883DE-1CC5-4245-A144-7A6FA6B0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2A892"/>
                </a:solidFill>
                <a:latin typeface="Arial"/>
                <a:ea typeface="Arial"/>
                <a:cs typeface="Arial"/>
              </a:rPr>
              <a:t>TodoNotFoundException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E855CB-DAC5-45AC-88AA-15735E51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0006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资源不存在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989B5F-E193-4FF5-ADD4-BF2B9610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62525"/>
            <a:ext cx="552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9F1491-298F-4C07-A565-3B227F4C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0101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404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429A1D-637E-4E7A-AB8D-F1A19617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2A892"/>
                </a:solidFill>
                <a:latin typeface="Arial"/>
                <a:ea typeface="Arial"/>
                <a:cs typeface="Arial"/>
              </a:rPr>
              <a:t>UnauthorizedException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B3D5C2-3BFA-46B2-9666-2BD063F7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2959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未登录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1C14E4-FC85-464F-B994-B21B05B7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57800"/>
            <a:ext cx="552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E09CAA-881C-40DB-9B3A-12A8A8D0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3054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401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E39555-2840-4A0D-A115-11353393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11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2A892"/>
                </a:solidFill>
                <a:latin typeface="Arial"/>
                <a:ea typeface="Arial"/>
                <a:cs typeface="Arial"/>
              </a:rPr>
              <a:t>BusinessException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D3EFE0-1188-4455-9FD0-A1230324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5911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业务冲突/限流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BE839C-631F-448E-B961-7AB6812B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553075"/>
            <a:ext cx="552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DDF1C3-1095-4949-B089-8CEFECE3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6007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4xx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318B1A-B0AD-4AA7-98AB-E39007B4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240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GlobalExceptionHandler 要做什么？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49EE21-2D49-48A1-A7E8-4F31B914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62200"/>
            <a:ext cx="4000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捕获已知异常：返回明确错误码，不暴露堆栈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捕获未知异常：记录完整日志，返回 INTERNAL_ERROR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统一携带 path：前端和日志能定位请求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错误码稳定，message 可以更适合用户阅读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4422A8-6EAC-48BC-A906-56A8F88E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24350"/>
            <a:ext cx="4000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BE8E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2995C3-C2D9-46C1-A06D-F161BC9C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14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D9686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6868"/>
                </a:solidFill>
                <a:latin typeface="Arial"/>
                <a:ea typeface="Arial"/>
                <a:cs typeface="Arial"/>
              </a:rPr>
              <a:t>个人复盘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D64431-90CB-4FF8-9083-048FA80D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768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30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32E"/>
                </a:solidFill>
                <a:latin typeface="Arial"/>
                <a:ea typeface="Arial"/>
                <a:cs typeface="Arial"/>
              </a:rPr>
              <a:t>哪些异常应该被用户看到？哪些只应该进日志？为什么？</a:t>
            </a:r>
          </a:p>
        </p:txBody>
      </p:sp>
    </p:spTree>
    <p:extLst>
      <p:ext uri="{BB962C8B-B14F-4D97-AF65-F5344CB8AC3E}">
        <p14:creationId xmlns:p14="http://schemas.microsoft.com/office/powerpoint/2010/main" val="17103459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4B7A21-E645-4334-979F-D794445D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3｜数据一致性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C275DF-3439-43FD-894E-D59933A3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事务与操作日志：一次业务变化要一起成功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338B58-045A-45FE-9170-560D92E5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356A63-B5F9-4E59-86F3-97BC6388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50889F-1A3C-405B-BB2E-01F26EFA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当前项目把 Todo 状态变化和 TodoActionLog 写入放在 Service 事务中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D35A01-5A45-4F65-8258-AF5A772A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619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45D28B-0C4E-453D-B9D9-40B814A5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71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F5A8FF-E08B-4380-BCA1-CBFF2F3A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53149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@Transactional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public Todo toggleTodo(Long userId, Long id)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Todo todo = getTodo(userId, id);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boolean next = !todo.isCompleted();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applyCompleted(todo, next);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Todo saved = todoRepository.save(todo);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addActionLog(saved, user, next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? TodoAction.COMPLETED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: TodoAction.UNCOMPLETED, ...);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return saved;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467758-F6E6-4EFA-8AE1-E0AD07E8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240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事务边界怎么理解？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53DFB0-DAD0-4081-8B29-9D2F2E06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62200"/>
            <a:ext cx="4000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@Transactional 让多个数据库写操作作为一个单元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中间任何 RuntimeException 发生，默认整体回滚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readOnly = true 告诉框架这是查询，表达意图并减少误操作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事务只覆盖数据库，不自动覆盖文件系统或消息 Broker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A2230A-A06F-4A54-BE5D-94A767D3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81500"/>
            <a:ext cx="4000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0D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2FB85F-BDF9-4F99-B356-C3CF06AC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720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09A3E"/>
                </a:solidFill>
                <a:latin typeface="Arial"/>
                <a:ea typeface="Arial"/>
                <a:cs typeface="Arial"/>
              </a:rPr>
              <a:t>必须做的实验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562BB2-0978-467D-8BDB-AC66CAE3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9339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31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3232E"/>
                </a:solidFill>
                <a:latin typeface="Arial"/>
                <a:ea typeface="Arial"/>
                <a:cs typeface="Arial"/>
              </a:rPr>
              <a:t>在写日志后人为抛异常，确认 Todo 和日志是否都没有提交。</a:t>
            </a:r>
          </a:p>
        </p:txBody>
      </p:sp>
    </p:spTree>
    <p:extLst>
      <p:ext uri="{BB962C8B-B14F-4D97-AF65-F5344CB8AC3E}">
        <p14:creationId xmlns:p14="http://schemas.microsoft.com/office/powerpoint/2010/main" val="7098159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014D2F-2FFF-4CB4-BF22-C6F14398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4｜性能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D47206-2C67-430D-9C10-CF003052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缓存：@Cacheable 到底缓存了什么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3E35C7-BEA4-4615-B058-C5467441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B879A0-E143-486F-B998-BC6AA3D6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9E3183-39F9-443E-90BE-B13139D0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当前项目的 Todo 详情和日志查询有缓存；更新、删除、恢复会驱逐对应 key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A0806B-5A5D-4B3C-ADC4-CFEA3D8D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619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FB2E63-F414-48C7-8A21-691166FF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71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81EE67-DA84-49EB-AC56-43DD01E4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53149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@Cacheable(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cacheNames = CacheNames.TODO_DETAIL,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key = "#userId + ':' + #id")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public Todo getTodo(Long userId, Long id)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return todoRepository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.findByIdAndUserIdAndDeletedFalse(id, userId)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.orElseThrow(...);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@CacheEvict(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cacheNames = CacheNames.TODO_DETAIL,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key = "#userId + ':' + #id")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public Todo updateTodo(...) { ... 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C6E806-2639-4700-B0C4-D5A69F6B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240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一次读取的两种路径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3A8EB2-0855-46C7-9F6B-01F463A3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19350"/>
            <a:ext cx="857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12B0F5-639D-47A6-A654-F5D079B3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66975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第一次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AF793E-EA8D-4DC1-9D82-3511AEEA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5745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cache miss → Repository → DB → 写入缓存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93AF89-532E-4C4C-8D59-69782739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09900"/>
            <a:ext cx="857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77E5B7-205D-4418-90A2-E8C6BA03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57525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第二次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96FBF1-F4A3-4D8E-B7C6-F15698A5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4800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cache hit → 直接返回，不查 DB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D098F6-FC07-4546-8F40-8CEA9EEE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00450"/>
            <a:ext cx="857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8464D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5E2277-CF3F-4FDD-B06E-D122C9FC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48075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更新后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7DC8F3-5021-4D7E-A72B-75015D6D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3855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save → evict 旧 key → 下次重新加载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BB0A33-483D-4459-90C2-162DA4A4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00550"/>
            <a:ext cx="4000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CEDB65-722D-418C-A237-724E3214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91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关键风险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3B64A7-5893-4742-8D5C-A98493FB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9530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93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3232E"/>
                </a:solidFill>
                <a:latin typeface="Arial"/>
                <a:ea typeface="Arial"/>
                <a:cs typeface="Arial"/>
              </a:rPr>
              <a:t>key 少了 userId 会串数据；更新不驱逐会读到旧数据；缓存不是最终数据源。</a:t>
            </a:r>
          </a:p>
        </p:txBody>
      </p:sp>
    </p:spTree>
    <p:extLst>
      <p:ext uri="{BB962C8B-B14F-4D97-AF65-F5344CB8AC3E}">
        <p14:creationId xmlns:p14="http://schemas.microsoft.com/office/powerpoint/2010/main" val="11298378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DDA404-AB98-404A-B4FF-FEC90C08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4–6｜REDIS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604674-0745-45B6-9E1C-F7BA137B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Redis 深入：TTL、幂等、限流和分布式锁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9E5FE0-AFD8-4F60-8BBF-78B703E5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23E135-7AE1-47A7-A0D5-7203056D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CD5488-49AC-4087-805F-8A3BA525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当前项目已把这些能力抽象成接口，并提供内存实现和 Redis 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AEF0F5-4900-4E38-9154-D571EA45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857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8CCBBC-A928-4425-B02B-2CB4214A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缓存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CA4A0A-5490-4F88-AB4D-EFD37BE4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383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todo:detail:{userId}:{id}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E15DDB-914A-4971-9E13-7364F291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TTL 到期后回源数据库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D7DBF8-5CA0-464F-82BA-F7A2DA5D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E75E00-875A-40FD-A80B-D45F2CFD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857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18BDFD-3F8A-4919-ADBB-4CEFD15D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幂等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E8E2F1-88A9-4404-B407-215D5E2D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813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idempotency:todo-create:user:{id}:{key}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E9CC4A-EA37-47AA-97D6-118C20F9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PROCESSING / COMPLETED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F3F74B-3D5B-4460-9BD2-1F2026D5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D6C78-A492-436B-AEBA-A498AFE8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857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7E0D69-D691-44C3-B054-BD272EFF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限流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4C2D83-5776-402F-A7B1-55CA1A51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242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rate-limit:todo-create:user:{id}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21D9C2-F261-4040-B7D0-4CA6A3BE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固定窗口，超出返回 429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94BB1C-693F-42E5-9B8C-C5C0894A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DD25E9-95C6-4FE7-933A-BE89B540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857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8464D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DA706D-A644-43B8-B4F8-339C39B6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D27ADF-1001-41D8-888B-39B646B4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672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lock:todo-overdue-job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48A7C3-FF56-401C-A7AA-A2B88B08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672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租期到期自动释放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B5CDB4-E1D8-4043-8B96-12261F17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9B0FF2-48C9-4847-B7BA-859A3D52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287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DFB68F-CAF2-4DF9-8D19-8B9CDDAC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86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94C56E-D12E-4819-B049-F1D1FA68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9982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607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Idempotency-Key: create-todo-001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第一次：tryClaim → PROCESSING → 执行业务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成功后：afterCommit → COMPLETED(todoId)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重复请求：COMPLETED → 返回原 Todo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并发请求：PROCESSING → 提示稍后重试</a:t>
            </a:r>
          </a:p>
        </p:txBody>
      </p:sp>
    </p:spTree>
    <p:extLst>
      <p:ext uri="{BB962C8B-B14F-4D97-AF65-F5344CB8AC3E}">
        <p14:creationId xmlns:p14="http://schemas.microsoft.com/office/powerpoint/2010/main" val="154044528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C290BA-6FF9-4CC8-8FD2-7D268FDF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4｜异步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8C912-3424-41EC-B40F-DB914040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异步事件：afterCommit、线程池与失败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2C8C14-20E2-4732-BCCF-E62D0C93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DB1CA5-112B-4D2E-92AD-A513FFA1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1360FB-B6D0-47B5-B1F3-E828E54E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异步的价值是缩短主请求等待时间，但必须定义提交时机、线程池和失败策略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3EEABA-C9DB-470E-966C-C0F04563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65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F7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47B0DE-6B30-4475-AEB3-3B8F8BCA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事务内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A89718-1485-49B1-8098-DFC06FF2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F7CFF"/>
                </a:solidFill>
                <a:latin typeface="Arial"/>
                <a:ea typeface="Arial"/>
                <a:cs typeface="Arial"/>
              </a:rPr>
              <a:t>保存 Todo + 日志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8F62EF-789E-4C69-AD0E-97AB0642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8600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40FB5A-7267-4AC7-AAF2-F28856BA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43100"/>
            <a:ext cx="165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A89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40ED80-7DB9-425D-8F47-AD760ADB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955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afterCommit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662E28-8046-480C-BE2F-75B9DB15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193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2A892"/>
                </a:solidFill>
                <a:latin typeface="Arial"/>
                <a:ea typeface="Arial"/>
                <a:cs typeface="Arial"/>
              </a:rPr>
              <a:t>数据库提交后发布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224334-E86B-4C6A-95D2-814E26CC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8600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24FDCB-8D89-4C9B-BD6A-50A26B2A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943100"/>
            <a:ext cx="165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9A3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0F1159-E649-44AA-B187-3195F490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955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线程池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EB9BA8-6C66-4DAF-A76C-89C72FE2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193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09A3E"/>
                </a:solidFill>
                <a:latin typeface="Arial"/>
                <a:ea typeface="Arial"/>
                <a:cs typeface="Arial"/>
              </a:rPr>
              <a:t>后台消费事件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E677EC-7928-4E6D-8ED1-D128441C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8600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ED6199-F304-40F2-B154-49317C37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43100"/>
            <a:ext cx="165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464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433729-1E19-40ED-819C-179A9797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955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Handler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CD0579-A33B-417B-A75E-860BCD20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193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8464D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464D8"/>
                </a:solidFill>
                <a:latin typeface="Arial"/>
                <a:ea typeface="Arial"/>
                <a:cs typeface="Arial"/>
              </a:rPr>
              <a:t>写扩展记录/统计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5FE5B8-7B25-4B6C-A3AB-F34CE8DF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8600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8EEAF6-A7B2-488C-9C17-93C1CE3F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43100"/>
            <a:ext cx="165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686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5CBB51-852D-41E9-B2AA-EC80E897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955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失败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6AD401-BBE7-431B-9DE3-76E97E64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193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D968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96868"/>
                </a:solidFill>
                <a:latin typeface="Arial"/>
                <a:ea typeface="Arial"/>
                <a:cs typeface="Arial"/>
              </a:rPr>
              <a:t>日志 + 重试/补偿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7C1A58-6777-4D8B-9F5C-E7363AB1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143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5D9C9A-18F3-42D7-ADF6-7AB5F8DA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8B351C-0BF3-4DEF-8691-3BE9A5E2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52825"/>
            <a:ext cx="48387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TransactionSynchronizationManager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.registerSynchronization(new TransactionSynchronization()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@Override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public void afterCommit()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    todoEventPublisher.publish(event);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}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});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C1C133-EB45-4932-ABDC-790A3B74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线程池需要想清楚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2254B2-BC85-484E-A9B1-3A9DC856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6715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核心线程数和队列长度：任务堆积怎么办？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拒绝策略：满了以后是丢弃、阻塞还是报错？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上下文：requestId、用户信息是否需要传递？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消费失败：重试次数、告警、人工补偿在哪里？</a:t>
            </a:r>
          </a:p>
        </p:txBody>
      </p:sp>
    </p:spTree>
    <p:extLst>
      <p:ext uri="{BB962C8B-B14F-4D97-AF65-F5344CB8AC3E}">
        <p14:creationId xmlns:p14="http://schemas.microsoft.com/office/powerpoint/2010/main" val="42605056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8638B5-B1B3-4B30-A04A-1DB5A2FB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4｜运行维护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D0E00-67D9-4588-AF07-56B4A84D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定时任务、批处理与 Actuator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0165B2-F050-424D-9D11-3BEF335D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C8C6BD-8CA8-4638-B3BF-1DBC92C3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5D27B-5409-4BBF-B9E4-F33FC7E2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后台任务也是接口：要可配置、可重复执行、可检查状态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5A8F2F-C28F-46DF-96F1-C867F9F7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953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0C3207-CDCD-469E-AADA-C85EB352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64D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A2F315-97B9-4600-BF25-C0FF5D93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6482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app.todo.overdue-job.enabled=true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app.todo.overdue-job.cron=0 0 9 * * *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app.todo.overdue-job.zone=Asia/Shanghai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app.todo.overdue-job.page-size=50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GET /actuator/health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GET /actuator/info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GET /actuator/metrics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7877D0-34DF-4FD9-A45C-4CC60219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为什么要分页？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ECCC81-1077-4602-A300-A4F95DF3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6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避免一次把全部未完成 Todo 加载到内存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6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page-size=50 是每批上限，不是总数据量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6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重复执行要幂等：已标记 OVERDUE 的不要重复污染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411095-AD97-4BE6-AE76-4EB993BD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24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本项目健康检查的边界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B57D2B-F5D5-42B8-9AF7-1BE2F611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62200"/>
            <a:ext cx="4476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95562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默认关闭 Redis、Kafka、RabbitMQ health，避免本机没服务导致应用不健康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health：服务是否能工作；metrics：运行数据；info：应用信息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生产环境只暴露必要端点，不把敏感配置全部暴露给匿名用户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9F41B1-D790-435A-AA35-9D13B283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81500"/>
            <a:ext cx="4476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EE9F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2008D7-604C-402F-A9F8-B5582AFB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720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8464D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464D8"/>
                </a:solidFill>
                <a:latin typeface="Arial"/>
                <a:ea typeface="Arial"/>
                <a:cs typeface="Arial"/>
              </a:rPr>
              <a:t>验收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554B10-150F-4A54-ACA5-1E1C7E81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339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93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3232E"/>
                </a:solidFill>
                <a:latin typeface="Arial"/>
                <a:ea typeface="Arial"/>
                <a:cs typeface="Arial"/>
              </a:rPr>
              <a:t>手动调用内部任务接口，观察执行状态、处理数量和日志；再验证重复执行。</a:t>
            </a:r>
          </a:p>
        </p:txBody>
      </p:sp>
    </p:spTree>
    <p:extLst>
      <p:ext uri="{BB962C8B-B14F-4D97-AF65-F5344CB8AC3E}">
        <p14:creationId xmlns:p14="http://schemas.microsoft.com/office/powerpoint/2010/main" val="107885235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0221F0-0E70-4349-81F1-536DC201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5｜文件管理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E039C-8A33-4585-83DD-E156783A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附件上传：数据库和文件系统的双边界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60A321-A2EC-4247-85F9-49322B3A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B91CC8-74B8-492A-8E61-84B20C6C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BCACB7-C692-42A3-9649-EEF2D1D7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文件内容存储在哪里，文件元数据存储在哪里，失败时如何补偿？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BC004C-13B4-46DD-9694-BFB09F8D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65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F7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498356-2E35-423F-B773-D81B0425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multipart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C96BCB-6401-4802-B80F-AFA871AB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F7CFF"/>
                </a:solidFill>
                <a:latin typeface="Arial"/>
                <a:ea typeface="Arial"/>
                <a:cs typeface="Arial"/>
              </a:rPr>
              <a:t>上传文件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F71BEC-FC68-4153-9B01-9141E1CF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8600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4D7D89-A8C1-43EC-8F4C-30697E98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43100"/>
            <a:ext cx="165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9A3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B2701B-1443-43EB-93E4-FC5BD33D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955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校验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61BE97-E0A7-42B6-82BD-E295D353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193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09A3E"/>
                </a:solidFill>
                <a:latin typeface="Arial"/>
                <a:ea typeface="Arial"/>
                <a:cs typeface="Arial"/>
              </a:rPr>
              <a:t>大小、类型、文件名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660B27-5D90-4E3C-B365-56CB90F6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8600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E7CCB9-35CE-4433-B591-A987FD37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943100"/>
            <a:ext cx="165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A89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DD3627-4A36-48AB-82FA-1C5D3A21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955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文件系统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80B05A-4113-4324-A2CB-E610768E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193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2A892"/>
                </a:solidFill>
                <a:latin typeface="Arial"/>
                <a:ea typeface="Arial"/>
                <a:cs typeface="Arial"/>
              </a:rPr>
              <a:t>uploads/{uuid}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B38E9C-9C57-4620-BCB8-7D2AB4E6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8600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48BA63-3E84-4097-BA32-BF85D981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43100"/>
            <a:ext cx="165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464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CD6F4D-EAD3-4571-B625-0D746B32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955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数据库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FCD467-E512-453E-8B52-F725ED5D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193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8464D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464D8"/>
                </a:solidFill>
                <a:latin typeface="Arial"/>
                <a:ea typeface="Arial"/>
                <a:cs typeface="Arial"/>
              </a:rPr>
              <a:t>TodoAttachment 元数据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E0EFCE-8181-4E56-8976-4CCF0BBB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8600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EFE62F-A5D0-4C34-85EF-01916932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43100"/>
            <a:ext cx="165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686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26B182-C2FB-41CD-AB1D-19627A9B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955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下载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A29313-8615-4528-9E40-CFD608E6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193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D968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96868"/>
                </a:solidFill>
                <a:latin typeface="Arial"/>
                <a:ea typeface="Arial"/>
                <a:cs typeface="Arial"/>
              </a:rPr>
              <a:t>校验归属后返回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FC5512-6B3D-4DD9-83B5-620E2FF5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495300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4CA130-996E-4051-896E-F9034E31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571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62A507-2B14-4B10-ADD7-68B2A602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90925"/>
            <a:ext cx="46482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app.file-storage.root-location=uploads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app.file-storage.max-file-size-bytes=5242880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// 关键原则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String storedName = UUID.randomUUID() + suffix;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// 数据库只记录 originalName、storedName、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// contentType、size、todoId、createdAt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76C13D-8797-4B10-B9ED-1EFFD238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671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必须保护的失败场景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D45D8E-DF2D-45AE-B4F5-66403355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4095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96829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文件已写入，但数据库事务回滚：删除残留文件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数据库有元数据，但文件不存在：下载返回明确错误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下载前校验 userId / Todo 归属，不能只凭 attachmentId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不要直接使用用户原始文件名作为磁盘路径，防止路径穿越</a:t>
            </a:r>
          </a:p>
        </p:txBody>
      </p:sp>
    </p:spTree>
    <p:extLst>
      <p:ext uri="{BB962C8B-B14F-4D97-AF65-F5344CB8AC3E}">
        <p14:creationId xmlns:p14="http://schemas.microsoft.com/office/powerpoint/2010/main" val="64244342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9D7ADD-2606-4201-B0FD-A544B568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5｜权限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E49FD8-B55B-4505-AFD9-8AA6CB7B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RBAC：认证、角色和资源归属是三层判断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6D170F-5E8A-4EEF-995A-11E5F7D6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D67965-4BFD-40D7-895B-2B7A6421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2139C2-CDAC-4641-9803-5F981431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不能只在前端隐藏按钮；后端必须在请求和业务查询中都验证权限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1B8C74-05DD-4FFC-A2FF-26D9390D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952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3875C6-5945-4136-A33B-D29233E1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1 身份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B16210-E1CB-41A9-9405-402B98E9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JWT Filter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E1B5CC-B1CD-4A6A-8539-F7D82936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Token 是否有效？用户是谁？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813DF3-FB63-40F1-8838-5250636C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43100"/>
            <a:ext cx="2952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91ADD0-9C0F-4484-BAD3-287733A3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145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2 角色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57A366-9B95-461C-9367-0BB802C0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57450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09A3E"/>
                </a:solidFill>
                <a:latin typeface="Arial"/>
                <a:ea typeface="Arial"/>
                <a:cs typeface="Arial"/>
              </a:rPr>
              <a:t>SecurityConfig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0215C0-47B3-409D-8BBB-61B08122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USER 能否访问 /api/admin？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84131D-BD4F-4245-8507-2C40618B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43100"/>
            <a:ext cx="2952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5F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246425-A5C0-4C44-94D4-922AE6B7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145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3 资源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975983-E310-4290-BA7D-B8C6A3AF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57450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Service + userId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C83656-593D-4A33-AB98-B9913EDE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81300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这个 Todo 是否属于当前用户？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A50FCB-20D8-4AE7-A89A-201B21ED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5143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B07867-BBB8-4A56-A3F4-01FAC40B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86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F58E3A-279D-4D78-BD8F-EDA30432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38575"/>
            <a:ext cx="48387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.requestMatchers("/api/admin/**").hasRole("ADMIN")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.anyRequest().authenticated()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// 查询必须带当前用户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todoRepository.findByIdAndUserIdAndDeletedFalse(id, userId);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12EE85-4AE4-46DE-A1CF-DBF98F84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147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测试矩阵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5C7233-5587-483A-B1DC-233CE509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529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未登录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C7A4DB-CF63-49F7-98C6-5FC27C1D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114800"/>
            <a:ext cx="666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BE8E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DA75C5-0FB8-45DD-B5C6-543A2455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1624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D9686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6868"/>
                </a:solidFill>
                <a:latin typeface="Arial"/>
                <a:ea typeface="Arial"/>
                <a:cs typeface="Arial"/>
              </a:rPr>
              <a:t>401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E21314-0DC7-441F-A8A1-438F7B1F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386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普通用户访问自己的 Todo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D38B80-385D-4969-94C2-11DBB7D6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00550"/>
            <a:ext cx="666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C208DF-18F2-4601-8AED-8FD780A4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4481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E28D73-AE08-4C6A-B94D-1DD15931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244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普通用户访问别人的 Todo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A1B627-38C4-455E-A969-3AC3DECE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686300"/>
            <a:ext cx="666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BE8E8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6C0AC1-98ED-46DB-9DA6-EBEC6E92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7339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D9686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6868"/>
                </a:solidFill>
                <a:latin typeface="Arial"/>
                <a:ea typeface="Arial"/>
                <a:cs typeface="Arial"/>
              </a:rPr>
              <a:t>404/403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35589B-8D2D-4ACA-B7EF-88263C4F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101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普通用户访问管理员接口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028846-133C-49F7-A899-B995C841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72050"/>
            <a:ext cx="666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BE8E8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42D351-66F1-489F-9E67-F618939B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0196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D9686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6868"/>
                </a:solidFill>
                <a:latin typeface="Arial"/>
                <a:ea typeface="Arial"/>
                <a:cs typeface="Arial"/>
              </a:rPr>
              <a:t>403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E906D0-3EA6-453C-B251-0B71983F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959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管理员访问管理员接口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449785-FA7C-4AD9-BBC8-E18F3532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257800"/>
            <a:ext cx="666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CD2854-B649-4A95-AA5F-AFC8A58F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3054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</p:spTree>
    <p:extLst>
      <p:ext uri="{BB962C8B-B14F-4D97-AF65-F5344CB8AC3E}">
        <p14:creationId xmlns:p14="http://schemas.microsoft.com/office/powerpoint/2010/main" val="118458502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4E5FFC-D134-4F6C-B3EB-C453C9D2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5｜质量保障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58BE23-FF1B-4EC7-96E6-F1558FAE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测试：Service 测试和 API 测试各自保护什么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40AC07-13BF-431C-81EA-2EB12541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089F94-43AA-45E8-B3E7-02F7157E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23028-512C-4C4A-B09D-C2CAD5EF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测试不是重复写代码：它把业务规则和接口行为固定下来，支持后续重构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75F10B-252B-4BEC-818E-76A3B8C6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762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28A927-E81B-40E1-890E-889E693A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01248E-C778-4274-8ABE-9AD72A5B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Service 单元测试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D21EC8-A9A2-47BD-8AE5-92C4E46B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38400"/>
            <a:ext cx="4381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Mock TodoRepository、UserRepository、IdempotencyStore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适合测试：标题规范化、权限、异常、事务内业务规则、重复请求。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03781E-F50B-4760-974B-4A4CA1C8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52768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C36FCD-283A-447E-B747-93947AAC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7E6C00-71E2-4AE0-B01F-43655772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489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Controller / API 测试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44F553-139A-4123-9895-2792C4D0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38400"/>
            <a:ext cx="48958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使用 MockMvc 或 Spring 测试上下文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适合测试：URL、HTTP 方法、JSON、校验、401/403/404、响应格式。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F8B551-5DE2-417A-A7F4-DC71C8A6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334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EEA898-E9A0-4C0D-B64A-0DDAA7A8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2DDD8D-DCBD-4C59-B0FD-A1223C40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50292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4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@Mock TodoRepository todoRepository;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@InjectMocks TodoService todoService;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when(todoRepository.findByIdAndUserIdAndDeletedFalse(1L, 9L))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.thenReturn(Optional.empty());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assertThrows(TodoNotFoundException.class,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() -&gt; todoService.getTodo(9L, 1L));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EA3322-6E2A-467A-AD08-EE93E32B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148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个人最低测试集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8F212D-2693-472F-815E-1C329E21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52950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93198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创建成功：返回 201 和 Location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标题非法：返回 400 和字段错误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资源不存在：返回 404 / TODO_NOT_FOUND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无权限：返回 401 或 403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幂等 Key 重复：返回同一个 Todo</a:t>
            </a:r>
          </a:p>
        </p:txBody>
      </p:sp>
    </p:spTree>
    <p:extLst>
      <p:ext uri="{BB962C8B-B14F-4D97-AF65-F5344CB8AC3E}">
        <p14:creationId xmlns:p14="http://schemas.microsoft.com/office/powerpoint/2010/main" val="43292209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F7C144-6FF7-41D3-83EB-426370E4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5｜数据库性能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D77989-814E-4402-A6E1-CA99F7A7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SQL、索引和慢查询：从证据开始优化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5E10B1-F3FA-45B9-94F7-0FEFD698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DF2B19-8B29-4227-9C9D-D3F881B7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6C7F65-D939-4176-9665-55E91DD1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当前迁移 V8 已加入 Todo 查询索引；学习时要能解释索引为什么放在这些列上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91A251-2286-4FCD-A6B4-CB988BEB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953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B7ADEE-DDD9-4B48-A720-767B518B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A807A0-A6F5-44AC-81DC-20AC22C8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6482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7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-- 典型列表查询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where user_id = ?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and deleted = false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and completed = ?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order by created_at desc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-- 学习用检查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EXPLAIN ANALYZE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select ...;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3E0CBD-491F-4714-BCDE-F1D999C9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索引思考顺序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898DE1-86DB-4EE8-9FC5-2FA75BDE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4953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先看 WHERE：是否经常按 user_id、completed 过滤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再看 ORDER BY：是否总按 created_at / id 排序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组合索引列顺序影响能否有效缩小范围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索引会增加 INSERT / UPDATE 成本，不是越多越好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FBAC93-CBC4-436A-8895-15BDD561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240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慢 SQL 排查链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8F7FCC-C7D1-499F-B343-4CAC98EB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00300"/>
            <a:ext cx="1428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D55D3D-93E4-4075-BCB9-09752102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4792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接口耗时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B4E92C-7A04-4486-9324-CC169D76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384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先确认真的慢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BBDD78-8807-4D86-9B02-C3B9B1CC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1428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12272B-5100-4833-B57D-EF0F38DC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0037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SQL 日志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D76C32-1CA6-4E9E-80A8-8D383334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908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找到是哪条查询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AAC6B7-5DA4-4745-AED0-C12C83C7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05200"/>
            <a:ext cx="1428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B4619A-462B-47C0-8DDF-D17DC9F8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5282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2F18C0-27B1-4086-B20D-B667604A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433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看扫描和排序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39FE58-404B-4366-9E1F-F481D0CF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57650"/>
            <a:ext cx="1428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8464D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68E4CC-3D92-4AB0-9E6A-EDABBA51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0527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加索引/改查询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584CA8-FCD4-41BC-903E-692D02B1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95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小步修改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95B177-AEA6-4C35-83FB-8805F587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10100"/>
            <a:ext cx="1428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9686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496369-7AE2-4956-9F7F-39BE1386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5772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重新对比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70A7AC-6EBC-4A6F-AF56-D9447133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48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相同数据验证</a:t>
            </a:r>
          </a:p>
        </p:txBody>
      </p:sp>
    </p:spTree>
    <p:extLst>
      <p:ext uri="{BB962C8B-B14F-4D97-AF65-F5344CB8AC3E}">
        <p14:creationId xmlns:p14="http://schemas.microsoft.com/office/powerpoint/2010/main" val="17058167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786477-F47A-4118-8151-93C8E7AA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6｜运行环境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D3DDC6-AFE7-4E7F-9D52-4EEEFE1D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Docker 与 PostgreSQL：何时切换真实环境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3F2A83-AC95-4E01-B526-6C2AD9A7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A199DD-1010-4008-B7BB-249312D5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7C5CEB-9170-4FCF-94DE-AA66F298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当前可以不安装 Docker/PostgreSQL；本页先理解容器和真实数据库的边界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8C5D96-D5C9-4637-8411-584E2F4B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3340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4589B1-851D-43F7-9B9A-98C4AA7A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7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617761-2AC3-442B-80D3-1D6E2DF2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50292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# Dockerfile 的思路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FROM eclipse-temurin:21-jre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COPY target/java-todo-api-1.0.0.jar app.jar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EXPOSE 8080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ENTRYPOINT ["java", "-jar", "/app.jar"]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# 有 Docker 时才执行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docker compose up -d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docker compose logs -f app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docker compose down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7AFC82-7DAA-4512-A974-E7674FE1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240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为什么要容器化？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FF780F-17BA-4521-AC99-A2306222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62200"/>
            <a:ext cx="4095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把 JDK/JRE、应用和启动方式固定下来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让本机、CI、服务器使用接近一致的运行环境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容器不是虚拟机：共享宿主机内核，启动更轻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数据要挂载 volume；容器删除不等于数据删除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0A467A-4227-4338-8B00-C032A6B9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43400"/>
            <a:ext cx="4095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291CD7-0089-4FE2-84C0-86FA42E8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339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切换 PostgreSQL 的学习顺序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BAB110-588B-4AD4-A6A0-55A53B96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958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43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3232E"/>
                </a:solidFill>
                <a:latin typeface="Arial"/>
                <a:ea typeface="Arial"/>
                <a:cs typeface="Arial"/>
              </a:rPr>
              <a:t>先 mvn test + H2 跑通 → 再启动 PostgreSQL → 激活 postgres profile → 重新跑迁移和测试。</a:t>
            </a:r>
          </a:p>
        </p:txBody>
      </p:sp>
    </p:spTree>
    <p:extLst>
      <p:ext uri="{BB962C8B-B14F-4D97-AF65-F5344CB8AC3E}">
        <p14:creationId xmlns:p14="http://schemas.microsoft.com/office/powerpoint/2010/main" val="205267425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EE7FBF-9F5D-4B16-B1C2-40529188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6｜消息系统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11BCAF-056A-4E5F-8F47-44002908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Kafka：当前项目代码中的 Producer、Consumer 和 DLT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824851-5DCE-4A87-81C6-F6C5D058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B5912A-129F-4817-8D99-C70DAEA8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64ABCD-FFEE-46BB-A375-26EE44A4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Kafka 的核心是 Topic、Partition、Offset、Consumer Group 和可回放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D6BA7B-9832-4032-8D2F-A1E8384F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715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795275-0E52-4270-82D7-70E1BFE3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7C428D-D75A-41C8-B85D-07ACDDEA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54102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@RetryableTopic(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attempts = "3",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backoff = @Backoff(delay = 1000L))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@KafkaListener(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topics = "\u0024{app.messaging.kafka.topic}",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groupId = "\u0024{app.messaging.kafka.consumer-group}")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public void consume(TodoActionLogMessage message)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messageHandler.handle(message);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@DltHandler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public void consumeDeadLetter(...) { ... 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5C6B9A-EB48-4102-A16D-361FC6C8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项目配置和含义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8C4300-7BE9-4B23-8AB8-C973BD9D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62200"/>
            <a:ext cx="371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topic=todo-action-log：事件分类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partitions=3：允许并行消费；同 key 才保证局部顺序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consumer-group=java-todo-api：组内分摊分区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attempts=3：失败最多按重试策略处理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DLT：多次失败后留下消息，便于人工排查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96077E-8855-4C11-8538-FCB439ED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10100"/>
            <a:ext cx="3714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61D5AE-1EE7-4F7C-90B0-170BD735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7815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8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个人练习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B3B406-67A9-4EC0-9230-2813366B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1054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104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32E"/>
                </a:solidFill>
                <a:latin typeface="Arial"/>
                <a:ea typeface="Arial"/>
                <a:cs typeface="Arial"/>
              </a:rPr>
              <a:t>让 handler 第 1 次抛异常，第 2 次成功，观察重试和 offset。</a:t>
            </a:r>
          </a:p>
        </p:txBody>
      </p:sp>
    </p:spTree>
    <p:extLst>
      <p:ext uri="{BB962C8B-B14F-4D97-AF65-F5344CB8AC3E}">
        <p14:creationId xmlns:p14="http://schemas.microsoft.com/office/powerpoint/2010/main" val="127629938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859CBD-E2F3-4EE3-AF9D-FAF862BF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6｜消息系统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589683-77E7-48C9-8DD9-82FF1D53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RabbitMQ：Exchange、Queue、ACK 和死信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4817B0-0BB9-4175-B21D-11D57501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C5348-BA45-469B-8D3C-05517175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F24947-5CBC-45A1-929F-05213B81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RabbitMQ 更强调路由和投递确认：消息进入哪个 Queue，消费成功后何时 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ACD643-E40E-488C-B6CC-1107D69A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65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F7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829858-B1D4-4A9B-8296-33D2AFAD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Producer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94685-EE55-470E-8040-2A73813D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F7CFF"/>
                </a:solidFill>
                <a:latin typeface="Arial"/>
                <a:ea typeface="Arial"/>
                <a:cs typeface="Arial"/>
              </a:rPr>
              <a:t>publish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2D12C7-0363-41C7-B2E5-006D50C7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6695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529CDD-9F48-4E37-8EDC-163A2E21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24050"/>
            <a:ext cx="165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9A3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784EB8-54ED-45AD-BEC2-4E0A7641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7645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Exchange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8A991A-F302-44DE-930F-3564EB65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003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09A3E"/>
                </a:solidFill>
                <a:latin typeface="Arial"/>
                <a:ea typeface="Arial"/>
                <a:cs typeface="Arial"/>
              </a:rPr>
              <a:t>todo.events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54D37A-C995-4DC8-A0B2-CBB47051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6695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AD56E7-A984-439E-8C02-46DF6E45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924050"/>
            <a:ext cx="165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A89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B45416-5499-4E4E-9C57-77E26BB8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7645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Binding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13B142-F020-46BB-8674-2D38590C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003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2A892"/>
                </a:solidFill>
                <a:latin typeface="Arial"/>
                <a:ea typeface="Arial"/>
                <a:cs typeface="Arial"/>
              </a:rPr>
              <a:t>routing-key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1ABC97-A254-4985-9D6B-93A4A8EE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6695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B9FC84-A3FB-4CAD-A726-3430B1ED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24050"/>
            <a:ext cx="165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464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365807-3B2E-4A91-B94D-3F6AFDF3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7645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Queue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694C3E-61F1-4260-A31D-DF76DDDE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003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8464D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464D8"/>
                </a:solidFill>
                <a:latin typeface="Arial"/>
                <a:ea typeface="Arial"/>
                <a:cs typeface="Arial"/>
              </a:rPr>
              <a:t>todo-action-log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CDEDA9-525F-4F1B-9C3C-4E552CD3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6695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70B67C-1A99-43AF-A373-C32C2544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24050"/>
            <a:ext cx="165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686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4E7AA5-DD6E-47CD-9351-385511B5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7645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Consumer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FF4CC4-AFE9-4B76-8305-B2B13BFA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003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D968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96868"/>
                </a:solidFill>
                <a:latin typeface="Arial"/>
                <a:ea typeface="Arial"/>
                <a:cs typeface="Arial"/>
              </a:rPr>
              <a:t>正常返回 → 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2D6D75-40DF-4E17-BD3C-10A2F6A8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238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E721B0-626B-4C60-8103-A2599F62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E90C0A-E7BB-4809-AE57-805523FD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52825"/>
            <a:ext cx="49339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QueueBuilder.durable(queue)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.withArgument("x-dead-letter-exchange", dlx)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.withArgument("x-dead-letter-routing-key", dlqKey)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.build();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factory.setDefaultRequeueRejected(false);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factory.setAdviceChain(retryInterceptor(maxAttempts=3));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8163F5-6D5D-4C17-9DDF-6F48B6F4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失败时发生什么？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7BF5D0-C88C-4607-AD5E-F81ACCB6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67150"/>
            <a:ext cx="4095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Consumer 抛异常：进入 Spring Retry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重试耗尽：Reject 且不重新入队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Queue 的 DLX 配置：转发到死信 Exchange/Queue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管理员查看 DLQ，修复后再决定是否重新投递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ACK 之前进程崩溃：消息可能再次投递，业务必须幂等</a:t>
            </a:r>
          </a:p>
        </p:txBody>
      </p:sp>
    </p:spTree>
    <p:extLst>
      <p:ext uri="{BB962C8B-B14F-4D97-AF65-F5344CB8AC3E}">
        <p14:creationId xmlns:p14="http://schemas.microsoft.com/office/powerpoint/2010/main" val="212027687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FF77D4C-6C90-4E2D-85C0-F3CF007D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7｜交付能力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51329A-E68D-4F79-AE74-CE8177E6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第 28 周：用真实代码完成一次综合复盘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743479-41E8-4BBD-A9DD-1BC11A98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48656B-2AD2-4FC9-9E86-B573B43E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6AF58F-5EF7-4B7F-AAD1-C4E5DA7B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最终不是背完术语，而是能从一个接口解释到数据、异常、测试和运行状态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EEF993-46E7-4D83-A503-74358FBC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9797F9-72DF-4999-BDD2-2F28A1D4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95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Day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4DA20D-49AD-46F2-865A-ADAF4BA5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954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从 POST /api/todos 画调用链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112544-B095-4C63-B8DF-98E920EDF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954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Controller → DTO → Service → Repository → DB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9E76BD-572B-4762-B85A-2AA8C425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7FBB5A-9E90-47FB-9AB7-A684D0B4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10651A-FA38-48E9-9ABC-D34E1665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495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Day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DE4D38-8A00-4FD2-93A3-AFBB351D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62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检查用户隔离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1CCDA0-6269-44FA-AA89-4E8B9752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622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所有详情、列表、日志查询是否带 userId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4C753A-73B6-42F8-8B6F-43146B59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193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F908AC-4BF9-4347-8D61-B45A80CB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A63C8E-CA95-4165-90F9-40AB6AF9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495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Day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6BDCB6-2DFF-47BB-AF8A-5B83983F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289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检查事务与缓存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D72A63-8082-44BC-8F0C-02492342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2892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写操作是否清缓存；日志是否和主数据一致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60457C-3264-44EC-ACF5-947EC424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86100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831004-1408-4585-8E9E-632BF69D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86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5E8F28-9346-46FE-9E15-9002FFAE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495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Day 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E3DD51-7B40-486E-BA15-8D9DCCDF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956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补 401/403/404/400 测试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23E4AE-0E48-4666-B11E-91EB8814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9565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验证权限、校验、资源不存在和统一响应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58DE07-CF8C-45AB-9540-2051C659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5282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66C4C9-E2CC-4BC7-B003-ABF54387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464D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394B2E-F51E-4674-91EB-314DF13D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495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Day 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DED426-5DEA-416C-A515-42E6821E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623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检查消息失败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03050A-F43E-47A3-BB2D-925A223F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623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重试、DLT/DLQ、幂等、requestId 是否可追踪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FA7494-10C3-4811-A0DD-C1B876DC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9550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41BD22-4EF6-4DEF-9EE9-BF328483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44A6B3-05A1-4CA8-9F38-2F3586B3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5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Day 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E0745D-F5F5-403E-BEAC-B8C3D246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2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运行完整验证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1F4AA4-00FC-4D33-AA82-A01412E9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291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mvn test、打包、启动、health、日志排查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0B9203-A53C-4074-9917-BF668AAF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862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802447-B871-413F-8F39-BE3817AA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AC92A0-3389-49A7-93C2-95BE4861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495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Day 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CE8262-9D94-411C-95EC-4AF5BE6D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958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写个人技术总结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6C9380-09C1-4F87-A54A-97225E30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9582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每个设计记录：问题、方案、代价、遗留风险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D2DCE3-A6AD-4C9C-A11D-51FED9F5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572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CD05AD-ED01-423C-89FE-AF1E85B3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个人最终验收：我能启动项目、写一个接口、解释一条 SQL、定位一个异常，并说明没有 PostgreSQL/Redis/Broker 时如何运行。</a:t>
            </a:r>
          </a:p>
        </p:txBody>
      </p:sp>
    </p:spTree>
    <p:extLst>
      <p:ext uri="{BB962C8B-B14F-4D97-AF65-F5344CB8AC3E}">
        <p14:creationId xmlns:p14="http://schemas.microsoft.com/office/powerpoint/2010/main" val="9523292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2026-09-15T02:44:35.3650000Z</dcterms:created>
  <dcterms:modified xsi:type="dcterms:W3CDTF">2026-09-15T02:44:35.3650000Z</dcterms:modified>
</coreProperties>
</file>